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1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5" Type="http://schemas.openxmlformats.org/officeDocument/2006/relationships/slide" Target="slides/slide5.xml" /><Relationship Id="rId4" Type="http://schemas.openxmlformats.org/officeDocument/2006/relationships/slide" Target="slides/slide4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9" Type="http://schemas.openxmlformats.org/officeDocument/2006/relationships/slide" Target="slides/slide9.xml" /><Relationship Id="rId15" Type="http://schemas.openxmlformats.org/officeDocument/2006/relationships/tableStyles" Target="tableStyles.xml" /><Relationship Id="rId14" Type="http://schemas.openxmlformats.org/officeDocument/2006/relationships/presProps" Target="presProps.xml" /><Relationship Id="rId13" Type="http://schemas.openxmlformats.org/officeDocument/2006/relationships/notesMaster" Target="notesMasters/notesMaster1.xml" /><Relationship Id="rId0" Type="http://schemas.openxmlformats.org/officeDocument/2006/relationships/slideMaster" Target="slideMasters/slideMaster1.xml" /><Relationship Id="rId11" Type="http://schemas.openxmlformats.org/officeDocument/2006/relationships/slide" Target="slides/slide11.xml" /><Relationship Id="rId10" Type="http://schemas.openxmlformats.org/officeDocument/2006/relationships/slide" Target="slides/slide10.xml" /><Relationship Id="rId6" Type="http://schemas.openxmlformats.org/officeDocument/2006/relationships/slide" Target="slides/slide6.xml" /><Relationship Id="rId16" Type="http://schemas.openxmlformats.org/officeDocument/2006/relationships/viewProps" Target="viewProps.xml" /><Relationship Id="rId12" Type="http://schemas.openxmlformats.org/officeDocument/2006/relationships/slide" Target="slides/slide12.xml" /><Relationship Id="rId1" Type="http://schemas.openxmlformats.org/officeDocument/2006/relationships/slide" Target="slides/slide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 descr="&lt;Slide style={{ width: '1280px', height: '720px', padding: 0, background: '#FFFFFF', display: 'flex', flexDirection: 'column' }}&gt;&#10;  &lt;Box style={{ background: '#0E3F8C', height: 96, display: 'flex', alignItems: 'center', paddingLeft: 60 }}&gt;&#10;    &lt;Text style={{ color: '#FFFFFF', fontSize: 24, fontWeight: 'bold', letterSpacing: 2 }}&gt;manhua-studio · 电商素材出图管线&lt;/Text&gt;&#10;  &lt;/Box&gt;&#10;  &lt;Box style={{ flex: 1, display: 'flex', flexDirection: 'column', justifyContent: 'center', padding: '0 80px' }}&gt;&#10;    &lt;Text style={{ fontSize: 64, fontWeight: 'bold', color: '#0E3F8C' }}&gt;V1–V5 阶段任务地图&lt;/Text&gt;&#10;    &lt;Text style={{ fontSize: 28, color: '#1A2230', marginTop: 16 }}&gt;电商素材出图管线 · 学生任务清单与验收基准&lt;/Text&gt;&#10;    &lt;Text style={{ fontSize: 20, color: '#8B97A8', marginTop: 12, fontStyle: 'italic' }}&gt;E-commerce Image Pipeline · Stage Task Map (V1–V5)&lt;/Text&gt;&#10;    &lt;Box style={{ height: 3, background: '#1E4FA8', width: 200, marginTop: 24 }} /&gt;&#10;    &lt;Text style={{ fontSize: 20, color: '#4A5568', marginTop: 24, lineHeight: 1.7 }}&gt;&#10;      一份仓库，五版递进：每版端到端可跑、是完整的，只是范围由小到大。&lt;br /&gt;&#10;      学生 clone 后对照本图，清楚每阶段该完成什么功能、交付什么、如何验收。&#10;    &lt;/Text&gt;&#10;  &lt;/Box&gt;&#10;  &lt;Box style={{ height: 72, display: 'flex', alignItems: 'center', justifyContent: 'space-between', padding: '0 80px', borderTop: '1px solid #D6DCE5' }}&gt;&#10;    &lt;Text style={{ fontSize: 16, color: '#8B97A8' }}&gt;工艺美术类高职 · 计算机专业 · Python 课程改造&lt;/Text&gt;&#10;    &lt;Text style={{ fontSize: 16, color: '#8B97A8' }}&gt;张老师 · 2026 秋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9144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571500" y="323850"/>
            <a:ext cx="4286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 spc="150">
                <a:solidFill>
                  <a:srgbClr val="FFFFFF"/>
                </a:solidFill>
                <a:latin typeface="Microsoft YaHei"/>
                <a:ea typeface="Microsoft YaHei"/>
              </a:rPr>
              <a:t>manhua-studio · </a:t>
            </a:r>
            <a:r>
              <a:rPr lang="zh-CN" sz="1800" b="1" spc="150">
                <a:solidFill>
                  <a:srgbClr val="FFFFFF"/>
                </a:solidFill>
                <a:latin typeface="Microsoft YaHei"/>
                <a:ea typeface="Microsoft YaHei"/>
              </a:rPr>
              <a:t>电商素材出图管线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762000" y="2133600"/>
            <a:ext cx="106680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0E3F8C"/>
                </a:solidFill>
                <a:latin typeface="Microsoft YaHei"/>
                <a:ea typeface="Microsoft YaHei"/>
              </a:rPr>
              <a:t>V1–V5 </a:t>
            </a:r>
            <a:r>
              <a:rPr lang="zh-CN" sz="4800" b="1">
                <a:solidFill>
                  <a:srgbClr val="0E3F8C"/>
                </a:solidFill>
                <a:latin typeface="Microsoft YaHei"/>
                <a:ea typeface="Microsoft YaHei"/>
              </a:rPr>
              <a:t>阶段任务地图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762000" y="3019425"/>
            <a:ext cx="106680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1A2230"/>
                </a:solidFill>
                <a:latin typeface="Microsoft YaHei"/>
                <a:ea typeface="Microsoft YaHei"/>
              </a:rPr>
              <a:t>电商素材出图管线</a:t>
            </a:r>
            <a:r>
              <a:rPr lang="en-US" sz="2100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2100">
                <a:solidFill>
                  <a:srgbClr val="1A2230"/>
                </a:solidFill>
                <a:latin typeface="Microsoft YaHei"/>
                <a:ea typeface="Microsoft YaHei"/>
              </a:rPr>
              <a:t>学生任务清单与验收基准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62000" y="3457575"/>
            <a:ext cx="10668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i="1">
                <a:solidFill>
                  <a:srgbClr val="8B97A8"/>
                </a:solidFill>
                <a:latin typeface="Microsoft YaHei"/>
                <a:ea typeface="Microsoft YaHei"/>
              </a:rPr>
              <a:t>E-commerce Image Pipeline · Stage Task Map (V1–V5)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762000" y="3914775"/>
            <a:ext cx="1905000" cy="2857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62000" y="4171950"/>
            <a:ext cx="10668000" cy="7810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一份仓库，五版递进：每版端到端可跑、是完整的，只是范围由小到大。</a:t>
            </a:r>
            <a:endParaRPr/>
          </a:p>
          <a:p>
            <a:pPr>
              <a:lnSpc>
                <a:spcPct val="17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学生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clone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后对照本图，清楚每阶段该完成什么功能、交付什么、如何验收。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0" y="6172200"/>
            <a:ext cx="12192000" cy="685800"/>
          </a:xfrm>
          <a:custGeom>
            <a:pathLst>
              <a:path w="1280" h="72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762000" y="6429375"/>
            <a:ext cx="3257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工艺美术类高职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计算机专业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· Python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课程改造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10287000" y="6429375"/>
            <a:ext cx="114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张老师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· 2026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秋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50" name="" descr="&lt;Slide style={{ width: '1280px', height: '720px', padding: 0, background: '#FFFFFF', display: 'flex', flexDirection: 'column' }}&gt;&#10;  &lt;Box style={{ background: '#0E3F8C', height: 80, display: 'flex', alignItems: 'center', paddingLeft: 48 }}&gt;&#10;    &lt;Text style={{ color: '#FFFFFF', fontSize: 26, fontWeight: 'bold' }}&gt;目录 · Contents&lt;/Text&gt;&#10;  &lt;/Box&gt;&#10;  &lt;Box style={{ flex: 1, display: 'flex', flexDirection: 'row' }}&gt;&#10;    &lt;Box style={{ width: 320, background: '#F0F5FC', display: 'flex', flexDirection: 'column', justifyContent: 'center', padding: 48 }}&gt;&#10;      &lt;Text style={{ fontSize: 56, fontWeight: 'bold', color: '#0E3F8C' }}&gt;05&lt;/Text&gt;&#10;      &lt;Text style={{ fontSize: 20, color: '#4A5568', marginTop: 8 }}&gt;页 · 教学导航&lt;/Text&gt;&#10;    &lt;/Box&gt;&#10;    &lt;Box style={{ flex: 1, display: 'flex', flexDirection: 'column', justifyContent: 'center', padding: '0 56px', gap: 22 }}&gt;&#10;      &lt;Box style={{ display: 'flex', flexDirection: 'row', alignItems: 'center', gap: 18 }}&gt;&#10;        &lt;Box style={{ width: 44, height: 44, background: '#1E4FA8', borderRadius: 8, display: 'flex', alignItems: 'center', justifyContent: 'center' }}&gt;&#10;          &lt;Text style={{ color: '#FFFFFF', fontSize: 19, fontWeight: 'bold' }}&gt;01&lt;/Text&gt;&#10;        &lt;/Box&gt;&#10;        &lt;Box&gt;&#10;          &lt;Text style={{ fontSize: 22, fontWeight: 'bold', color: '#1A2230' }}&gt;总览：两条轴与 V1–V5 路线&lt;/Text&gt;&#10;          &lt;Text style={{ fontSize: 16, color: '#8B97A8' }}&gt;版本迭代轴 + 三种走法轴，五版递进关系&lt;/Text&gt;&#10;        &lt;/Box&gt;&#10;      &lt;/Box&gt;&#10;      &lt;Box style={{ display: 'flex', flexDirection: 'row', alignItems: 'center', gap: 18 }}&gt;&#10;        &lt;Box style={{ width: 44, height: 44, background: '#1E4FA8', borderRadius: 8, display: 'flex', alignItems: 'center', justifyContent: 'center' }}&gt;&#10;          &lt;Text style={{ color: '#FFFFFF', fontSize: 19, fontWeight: 'bold' }}&gt;02&lt;/Text&gt;&#10;        &lt;/Box&gt;&#10;        &lt;Box&gt;&#10;          &lt;Text style={{ fontSize: 22, fontWeight: 'bold', color: '#1A2230' }}&gt;V1–V5 逐版功能与学生任务&lt;/Text&gt;&#10;          &lt;Text style={{ fontSize: 16, color: '#8B97A8' }}&gt;每版功能目标、学生交付物、新增构件、教师备课&lt;/Text&gt;&#10;        &lt;/Box&gt;&#10;      &lt;/Box&gt;&#10;      &lt;Box style={{ display: 'flex', flexDirection: 'row', alignItems: 'center', gap: 18 }}&gt;&#10;        &lt;Box style={{ width: 44, height: 44, background: '#1E4FA8', borderRadius: 8, display: 'flex', alignItems: 'center', justifyContent: 'center' }}&gt;&#10;          &lt;Text style={{ color: '#FFFFFF', fontSize: 19, fontWeight: 'bold' }}&gt;03&lt;/Text&gt;&#10;        &lt;/Box&gt;&#10;        &lt;Box&gt;&#10;          &lt;Text style={{ fontSize: 22, fontWeight: 'bold', color: '#1A2230' }}&gt;三种走法：跟跑 / 并跑 / 领跑&lt;/Text&gt;&#10;          &lt;Text style={{ fontSize: 16, color: '#8B97A8' }}&gt;同版本内不同厚度支撑，对应弱/中/强学生&lt;/Text&gt;&#10;        &lt;/Box&gt;&#10;      &lt;/Box&gt;&#10;      &lt;Box style={{ display: 'flex', flexDirection: 'row', alignItems: 'center', gap: 18 }}&gt;&#10;        &lt;Box style={{ width: 44, height: 44, background: '#1E4FA8', borderRadius: 8, display: 'flex', alignItems: 'center', justifyContent: 'center' }}&gt;&#10;          &lt;Text style={{ color: '#FFFFFF', fontSize: 19, fontWeight: 'bold' }}&gt;04&lt;/Text&gt;&#10;        &lt;/Box&gt;&#10;        &lt;Box&gt;&#10;          &lt;Text style={{ fontSize: 22, fontWeight: 'bold', color: '#1A2230' }}&gt;验收三档汇总（最低 / 期望 / 挑战）&lt;/Text&gt;&#10;          &lt;Text style={{ fontSize: 16, color: '#8B97A8' }}&gt;期末硬线：所有人至少达期望档&lt;/Text&gt;&#10;        &lt;/Box&gt;&#10;      &lt;/Box&gt;&#10;      &lt;Box style={{ display: 'flex', flexDirection: 'row', alignItems: 'center', gap: 18 }}&gt;&#10;        &lt;Box style={{ width: 44, height: 44, background: '#1E4FA8', borderRadius: 8, display: 'flex', alignItems: 'center', justifyContent: 'center' }}&gt;&#10;          &lt;Text style={{ color: '#FFFFFF', fontSize: 19, fontWeight: 'bold' }}&gt;05&lt;/Text&gt;&#10;        &lt;/Box&gt;&#10;        &lt;Box&gt;&#10;          &lt;Text style={{ fontSize: 22, fontWeight: 'bold', color: '#1A2230' }}&gt;防&quot;躺平&quot;策略与反思单&lt;/Text&gt;&#10;          &lt;Text style={{ fontSize: 16, color: '#8B97A8' }}&gt;阶梯钩子 + 低成本区分三档&lt;/Text&gt;&#10;        &lt;/Box&gt;&#10;      &lt;/Box&gt;&#10;    &lt;/Box&gt;&#10;  &lt;/Box&gt;&#10;  &lt;Box style={{ height: 36, display: 'flex', alignItems: 'center', justifyContent: 'flex-end', padding: '0 48px' }}&gt;&#10;    &lt;Text style={{ fontSize: 14, color: '#8B97A8' }}&gt;02 / 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457200" y="228600"/>
            <a:ext cx="18764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目录</a:t>
            </a: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 · Contents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0" y="762000"/>
            <a:ext cx="3048000" cy="57531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457200" y="3162300"/>
            <a:ext cx="21336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0E3F8C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457200" y="3886200"/>
            <a:ext cx="2133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页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教学导航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3581400" y="21240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3676650" y="2228850"/>
            <a:ext cx="228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4171950" y="2105025"/>
            <a:ext cx="2800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总览：两条轴与</a:t>
            </a: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> V1–V5 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路线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4171950" y="2362200"/>
            <a:ext cx="2800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版本迭代轴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+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三种走法轴，五版递进关系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3581400" y="27813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3676650" y="2886075"/>
            <a:ext cx="228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4171950" y="2762250"/>
            <a:ext cx="3352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>V1–V5 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逐版功能与学生任务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4171950" y="3019425"/>
            <a:ext cx="335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每版功能目标、学生交付物、新增构件、教师备课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3581400" y="343852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3676650" y="3543300"/>
            <a:ext cx="228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4171950" y="3419475"/>
            <a:ext cx="2876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三种走法：跟跑</a:t>
            </a: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> / 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并跑</a:t>
            </a: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> / 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领跑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4171950" y="3676650"/>
            <a:ext cx="2876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同版本内不同厚度支撑，对应弱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/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中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/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强学生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3581400" y="40957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3676650" y="4200525"/>
            <a:ext cx="228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4171950" y="4076700"/>
            <a:ext cx="3390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验收三档汇总（最低</a:t>
            </a: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> / 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期望</a:t>
            </a: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> / 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挑战）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4171950" y="4333875"/>
            <a:ext cx="3390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期末硬线：所有人至少达期望档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3581400" y="47529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3676650" y="4857750"/>
            <a:ext cx="228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4171950" y="4733925"/>
            <a:ext cx="21050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防</a:t>
            </a: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躺平</a:t>
            </a:r>
            <a:r>
              <a:rPr lang="en-US" sz="1650" b="1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策略与反思单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4171950" y="4991100"/>
            <a:ext cx="2105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阶梯钩子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+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低成本区分三档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11277600" y="66103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02 / 12</a:t>
            </a:r>
            <a:endParaRPr/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78" name="" descr="&lt;Slide style={{ width: '1280px', height: '720px', padding: 0, background: '#FFFFFF', display: 'flex', flexDirection: 'column' }}&gt;&#10;  &lt;Box style={{ background: '#0E3F8C', height: 80, display: 'flex', alignItems: 'center', paddingLeft: 48 }}&gt;&#10;    &lt;Text style={{ color: '#FFFFFF', fontSize: 26, fontWeight: 'bold' }}&gt;总览：两条轴与 V1–V5 路线&lt;/Text&gt;&#10;  &lt;/Box&gt;&#10;  &lt;Box style={{ flex: 1, display: 'flex', flexDirection: 'row' }}&gt;&#10;    &lt;Box style={{ width: 320, background: '#F0F5FC', display: 'flex', flexDirection: 'column', justifyContent: 'center', padding: 48 }}&gt;&#10;      &lt;Text style={{ fontSize: 48, fontWeight: 'bold', color: '#0E3F8C' }}&gt;总览&lt;/Text&gt;&#10;      &lt;Text style={{ fontSize: 18, color: '#4A5568', marginTop: 8 }}&gt;OVERVIEW&lt;/Text&gt;&#10;    &lt;/Box&gt;&#10;    &lt;Box style={{ flex: 1, display: 'flex', flexDirection: 'column', justifyContent: 'center', padding: '0 56px', gap: 22 }}&gt;&#10;      &lt;Box style={{ display: 'flex', flexDirection: 'row', alignItems: 'center', gap: 10 }}&gt;&#10;        {['V1 去底','V2 场景','V3 商品页','V4 识别','V5 工程化'].map((t, i) =&gt; (&#10;          &lt;Box key={i} style={{ display: 'flex', flexDirection: 'row', alignItems: 'center', gap: 10 }}&gt;&#10;            &lt;Box style={{ background: '#E8EFF8', border: '1px solid #1E4FA8', borderRadius: 20, padding: '10px 16px' }}&gt;&#10;              &lt;Text style={{ fontSize: 18, fontWeight: 'bold', color: '#0E3F8C' }}&gt;{t}&lt;/Text&gt;&#10;            &lt;/Box&gt;&#10;            {i &lt; 4 &amp;&amp; &lt;Text style={{ fontSize: 22, color: '#1E4FA8', fontWeight: 'bold' }}&gt;→&lt;/Text&gt;}&#10;          &lt;/Box&gt;&#10;        ))}&#10;      &lt;/Box&gt;&#10;      &lt;Box style={{ background: '#F7F9FC', border: '1px solid #D6DCE5', borderRadius: 10, padding: 20, gap: 12, display: 'flex', flexDirection: 'column' }}&gt;&#10;        &lt;Text style={{ fontSize: 19, color: '#1A2230', lineHeight: 1.6 }}&gt;&#10;          &lt;span style={{ fontWeight: 'bold', color: '#0E3F8C' }}&gt;轴1 · 版本迭代（课程时间轴）：&lt;/span&gt;V1→V5 跨 5–6 次课逐步叠加构件，每版端到端可跑、是完整的，只是范围由小到大。&#10;        &lt;/Text&gt;&#10;        &lt;Text style={{ fontSize: 19, color: '#1A2230', lineHeight: 1.6 }}&gt;&#10;          &lt;span style={{ fontWeight: 'bold', color: '#0E3F8C' }}&gt;轴2 · 三种走法（学生能力轴）：&lt;/span&gt;同版本内弱/中/强拿不同厚度支撑——跟跑(代码写完跑+读) / 并跑(半成品改 prompts) / 领跑(裸引擎自己写+排错)。&#10;        &lt;/Text&gt;&#10;        &lt;Text style={{ fontSize: 19, color: '#1A2230', lineHeight: 1.6 }}&gt;&#10;          &lt;span style={{ fontWeight: 'bold', color: '#D9534F' }}&gt;&quot;完整&quot;的精确定义：&lt;/span&gt;集成完整＝这版端到端跑通、非桩代码；不是功能完整＝不必含最终全部特性。学生须讲清：V1 只有白底图不是没做完，是范围就到这里。&#10;        &lt;/Text&gt;&#10;      &lt;/Box&gt;&#10;    &lt;/Box&gt;&#10;  &lt;/Box&gt;&#10;  &lt;Box style={{ height: 36, display: 'flex', alignItems: 'center', justifyContent: 'flex-end', padding: '0 48px' }}&gt;&#10;    &lt;Text style={{ fontSize: 14, color: '#8B97A8' }}&gt;03 / 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0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457200" y="228600"/>
            <a:ext cx="31718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总览：两条轴与</a:t>
            </a: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 V1–V5 </a:t>
            </a: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路线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0" y="762000"/>
            <a:ext cx="3048000" cy="57531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457200" y="3219450"/>
            <a:ext cx="21336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600" b="1">
                <a:solidFill>
                  <a:srgbClr val="0E3F8C"/>
                </a:solidFill>
                <a:latin typeface="Microsoft YaHei"/>
                <a:ea typeface="Microsoft YaHei"/>
              </a:rPr>
              <a:t>总览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457200" y="3848100"/>
            <a:ext cx="2133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OVERVIEW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3581400" y="1990725"/>
            <a:ext cx="933450" cy="400050"/>
          </a:xfrm>
          <a:prstGeom prst="roundRect">
            <a:avLst>
              <a:gd name="adj" fmla="val 47619"/>
            </a:avLst>
          </a:prstGeom>
          <a:solidFill>
            <a:srgbClr val="E8EFF8"/>
          </a:solidFill>
          <a:ln w="127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3733800" y="2085975"/>
            <a:ext cx="628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V1 </a:t>
            </a: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去底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4610100" y="206692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1E4FA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4914900" y="1990725"/>
            <a:ext cx="933450" cy="400050"/>
          </a:xfrm>
          <a:prstGeom prst="roundRect">
            <a:avLst>
              <a:gd name="adj" fmla="val 47619"/>
            </a:avLst>
          </a:prstGeom>
          <a:solidFill>
            <a:srgbClr val="E8EFF8"/>
          </a:solidFill>
          <a:ln w="127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5067300" y="2085975"/>
            <a:ext cx="628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V2 </a:t>
            </a: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场景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5943600" y="206692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1E4FA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6248400" y="1990725"/>
            <a:ext cx="1104900" cy="400050"/>
          </a:xfrm>
          <a:prstGeom prst="roundRect">
            <a:avLst>
              <a:gd name="adj" fmla="val 47619"/>
            </a:avLst>
          </a:prstGeom>
          <a:solidFill>
            <a:srgbClr val="E8EFF8"/>
          </a:solidFill>
          <a:ln w="127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6400800" y="2085975"/>
            <a:ext cx="800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V3 </a:t>
            </a: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商品页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7448550" y="206692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1E4FA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7753350" y="1990725"/>
            <a:ext cx="933450" cy="400050"/>
          </a:xfrm>
          <a:prstGeom prst="roundRect">
            <a:avLst>
              <a:gd name="adj" fmla="val 47619"/>
            </a:avLst>
          </a:prstGeom>
          <a:solidFill>
            <a:srgbClr val="E8EFF8"/>
          </a:solidFill>
          <a:ln w="127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7905750" y="2085975"/>
            <a:ext cx="628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V4 </a:t>
            </a: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识别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8782050" y="2066925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 b="1">
                <a:solidFill>
                  <a:srgbClr val="1E4FA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9086850" y="1990725"/>
            <a:ext cx="1104900" cy="400050"/>
          </a:xfrm>
          <a:prstGeom prst="roundRect">
            <a:avLst>
              <a:gd name="adj" fmla="val 47619"/>
            </a:avLst>
          </a:prstGeom>
          <a:solidFill>
            <a:srgbClr val="E8EFF8"/>
          </a:solidFill>
          <a:ln w="127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9239250" y="2085975"/>
            <a:ext cx="800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V5 </a:t>
            </a:r>
            <a:r>
              <a:rPr lang="zh-CN" sz="1350" b="1">
                <a:solidFill>
                  <a:srgbClr val="0E3F8C"/>
                </a:solidFill>
                <a:latin typeface="Microsoft YaHei"/>
                <a:ea typeface="Microsoft YaHei"/>
              </a:rPr>
              <a:t>工程化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3581400" y="2600325"/>
            <a:ext cx="8077200" cy="2695575"/>
          </a:xfrm>
          <a:prstGeom prst="roundRect">
            <a:avLst>
              <a:gd name="adj" fmla="val 3534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3771900" y="2790825"/>
            <a:ext cx="769620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轴</a:t>
            </a: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1 · </a:t>
            </a: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版本迭代（课程时间轴）：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V1→V5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跨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5–6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次课逐步叠加构件，每版端到端可跑、是完整的，只是范围由小到大。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3771900" y="3600450"/>
            <a:ext cx="769620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轴</a:t>
            </a:r>
            <a:r>
              <a:rPr lang="en-US" sz="1425" b="1">
                <a:solidFill>
                  <a:srgbClr val="0E3F8C"/>
                </a:solidFill>
                <a:latin typeface="Microsoft YaHei"/>
                <a:ea typeface="Microsoft YaHei"/>
              </a:rPr>
              <a:t>2 · </a:t>
            </a: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三种走法（学生能力轴）：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同版本内弱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/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中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/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强拿不同厚度支撑——跟跑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(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代码写完跑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+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读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) /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并跑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(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半成品改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prompts) /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领跑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(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裸引擎自己写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+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排错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)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3771900" y="4410075"/>
            <a:ext cx="769620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425" b="1">
                <a:solidFill>
                  <a:srgbClr val="D9534F"/>
                </a:solidFill>
                <a:latin typeface="Microsoft YaHei"/>
                <a:ea typeface="Microsoft YaHei"/>
              </a:rPr>
              <a:t>"</a:t>
            </a:r>
            <a:r>
              <a:rPr lang="zh-CN" sz="1425" b="1">
                <a:solidFill>
                  <a:srgbClr val="D9534F"/>
                </a:solidFill>
                <a:latin typeface="Microsoft YaHei"/>
                <a:ea typeface="Microsoft YaHei"/>
              </a:rPr>
              <a:t>完整</a:t>
            </a:r>
            <a:r>
              <a:rPr lang="en-US" sz="1425" b="1">
                <a:solidFill>
                  <a:srgbClr val="D9534F"/>
                </a:solidFill>
                <a:latin typeface="Microsoft YaHei"/>
                <a:ea typeface="Microsoft YaHei"/>
              </a:rPr>
              <a:t>"</a:t>
            </a:r>
            <a:r>
              <a:rPr lang="zh-CN" sz="1425" b="1">
                <a:solidFill>
                  <a:srgbClr val="D9534F"/>
                </a:solidFill>
                <a:latin typeface="Microsoft YaHei"/>
                <a:ea typeface="Microsoft YaHei"/>
              </a:rPr>
              <a:t>的精确定义：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集成完整＝这版端到端跑通、非桩代码；不是功能完整＝不必含最终全部特性。学生须讲清：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V1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只有白底图不是没做完，是范围就到这里。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11277600" y="66103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03 / 12</a:t>
            </a:r>
            <a:endParaRPr/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04" name="" descr="&lt;Slide style={{ width: '1280px', height: '720px', padding: 0, background: '#FFFFFF', display: 'flex', flexDirection: 'column' }}&gt;&#10;  &lt;Box style={{ background: '#0E3F8C', height: 80, display: 'flex', alignItems: 'center', justifyContent: 'space-between', paddingLeft: 48, paddingRight: 40 }}&gt;&#10;    &lt;Text style={{ color: '#FFFFFF', fontSize: 26, fontWeight: 'bold' }}&gt;V1 去底白图&lt;/Text&gt;&#10;    &lt;Box style={{ background: '#E8EFF8', borderRadius: 10, padding: '6px 18px' }}&gt;&#10;      &lt;Text style={{ fontSize: 26, fontWeight: 'bold', color: '#0E3F8C' }}&gt;V1&lt;/Text&gt;&#10;    &lt;/Box&gt;&#10;  &lt;/Box&gt;&#10;  &lt;Box style={{ flex: 1, display: 'flex', flexDirection: 'row', padding: 32, gap: 20 }}&gt;&#10;    &lt;Box style={{ flex: 1.22, background: '#F7F9FC', border: '1px solid #D6DCE5', borderRadius: 12, padding: 22, display: 'flex', flexDirection: 'column', gap: 12 }}&gt;&#10;      &lt;Text style={{ fontSize: 24, fontWeight: 'bold', color: '#0E3F8C' }}&gt;学生任务 · 当版做什么&lt;/Text&gt;&#10;      &lt;Text style={{ fontSize: 19, color: '#1A2230', lineHeight: 1.55 }}&gt;&#10;        &lt;span style={{ fontWeight: 'bold' }}&gt;功能目标：&lt;/span&gt;把一张真实商品照片，变成干净白底电商主图。&#10;      &lt;/Text&gt;&#10;      &lt;Text style={{ fontSize: 19, color: '#1A2230', lineHeight: 1.55 }}&gt;&#10;        &lt;span style={{ fontWeight: 'bold' }}&gt;跟跑步骤：&lt;/span&gt;&lt;br /&gt;&#10;        ① cp env.example .env，填 UAPI_KEY&lt;br /&gt;&#10;        ② python -m manhua_studio --input 照片.jpg&lt;br /&gt;&#10;        ③ 查看 deliverables/ 下生成的白底图&#10;      &lt;/Text&gt;&#10;      &lt;Text style={{ fontSize: 19, color: '#1A2230', lineHeight: 1.55 }}&gt;&#10;        &lt;span style={{ fontWeight: 'bold' }}&gt;交付物：&lt;/span&gt;1 张白底商品图（真实电商素材，截图归档到学号文件夹）&#10;      &lt;/Text&gt;&#10;    &lt;/Box&gt;&#10;    &lt;Box style={{ flex: 1, display: 'flex', flexDirection: 'column', gap: 16 }}&gt;&#10;      &lt;Box style={{ flex: 1, background: '#F7F9FC', border: '1px solid #D6DCE5', borderRadius: 12, padding: 20, display: 'flex', flexDirection: 'column', gap: 10 }}&gt;&#10;        &lt;Text style={{ fontSize: 24, fontWeight: 'bold', color: '#0E3F8C' }}&gt;新增构件 · 代码位置&lt;/Text&gt;&#10;        &lt;Text style={{ fontSize: 18, color: '#1A2230', lineHeight: 1.55 }}&gt;&#10;          &lt;span style={{ fontWeight: 'bold' }}&gt;adapters.stage1_remove_bg&lt;/span&gt;：调用 UAPI(uapis.cn) 免费抠图 API，去底返回白底图&#10;        &lt;/Text&gt;&#10;        &lt;Text style={{ fontSize: 18, color: '#1A2230', lineHeight: 1.55 }}&gt;&#10;          &lt;span style={{ fontWeight: 'bold' }}&gt;cli.py&lt;/span&gt;：--input 解析 + 调度入口&#10;        &lt;/Text&gt;&#10;      &lt;/Box&gt;&#10;      &lt;Box style={{ flex: 1, background: '#F0F5FC', border: '1px solid #1E4FA8', borderRadius: 12, padding: 20, display: 'flex', flexDirection: 'column', gap: 8 }}&gt;&#10;        &lt;Text style={{ fontSize: 24, fontWeight: 'bold', color: '#0E3F8C' }}&gt;教师备课&lt;/Text&gt;&#10;        &lt;Text style={{ fontSize: 17, color: '#4A5568', lineHeight: 1.5 }}&gt;· 一键包代码已写好（弱生直接跑）&lt;/Text&gt;&#10;        &lt;Text style={{ fontSize: 17, color: '#4A5568', lineHeight: 1.5 }}&gt;· UAPI_KEY 免费申请指引（uapis.cn）&lt;/Text&gt;&#10;        &lt;Text style={{ fontSize: 17, color: '#4A5568', lineHeight: 1.5 }}&gt;· 命令速查卡&lt;/Text&gt;&#10;      &lt;/Box&gt;&#10;    &lt;/Box&gt;&#10;  &lt;/Box&gt;&#10;  &lt;Box style={{ height: 80, display: 'flex', flexDirection: 'row', alignItems: 'center', padding: '0 32', gap: 16, background: '#E8EFF8' }}&gt;&#10;    &lt;Text style={{ fontSize: 17, color: '#1A2230' }}&gt;&lt;span style={{ fontWeight: 'bold', color: '#1E4FA8' }}&gt;最低&lt;/span&gt; 一键包跑出白底图并截图&lt;/Text&gt;&#10;    &lt;Text style={{ fontSize: 17, color: '#1A2230' }}&gt;&lt;span style={{ fontWeight: 'bold', color: '#1E4FA8' }}&gt;期望&lt;/span&gt; 自己配 UAPI_KEY 跑命令出图&lt;/Text&gt;&#10;    &lt;Text style={{ fontSize: 17, color: '#1A2230' }}&gt;&lt;span style={{ fontWeight: 'bold', color: '#1E4FA8' }}&gt;挑战&lt;/span&gt; 读懂 cli 参数、改输出文件名&lt;/Text&gt;&#10;  &lt;/Box&gt;&#10;  &lt;Box style={{ height: 36, display: 'flex', alignItems: 'center', justifyContent: 'flex-end', padding: '0 48px' }}&gt;&#10;    &lt;Text style={{ fontSize: 14, color: '#8B97A8' }}&gt;04 / 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6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457200" y="228600"/>
            <a:ext cx="14001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V1 </a:t>
            </a: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去底白图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11134725" y="171450"/>
            <a:ext cx="676275" cy="419100"/>
          </a:xfrm>
          <a:prstGeom prst="roundRect">
            <a:avLst>
              <a:gd name="adj" fmla="val 22727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11306175" y="228600"/>
            <a:ext cx="3333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E3F8C"/>
                </a:solidFill>
                <a:latin typeface="Microsoft YaHei"/>
                <a:ea typeface="Microsoft YaHei"/>
              </a:rPr>
              <a:t>V1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304800" y="1066800"/>
            <a:ext cx="6257925" cy="4381500"/>
          </a:xfrm>
          <a:prstGeom prst="roundRect">
            <a:avLst>
              <a:gd name="adj" fmla="val 260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514350" y="1276350"/>
            <a:ext cx="58388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学生任务</a:t>
            </a:r>
            <a:r>
              <a:rPr lang="en-US" sz="1800" b="1">
                <a:solidFill>
                  <a:srgbClr val="0E3F8C"/>
                </a:solidFill>
                <a:latin typeface="Microsoft YaHei"/>
                <a:ea typeface="Microsoft YaHei"/>
              </a:rPr>
              <a:t> · </a:t>
            </a: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当版做什么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514350" y="1666875"/>
            <a:ext cx="5838825" cy="3429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功能目标：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把一张真实商品照片，变成干净白底电商主图。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514350" y="2124075"/>
            <a:ext cx="5838825" cy="13525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跟跑步骤：</a:t>
            </a:r>
            <a:endParaRPr/>
          </a:p>
          <a:p>
            <a:pPr>
              <a:lnSpc>
                <a:spcPct val="155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① cp env.example .env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，填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UAPI_KEY</a:t>
            </a:r>
            <a:endParaRPr/>
          </a:p>
          <a:p>
            <a:pPr>
              <a:lnSpc>
                <a:spcPct val="155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② python -m manhua_studio --input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照片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.jpg</a:t>
            </a:r>
            <a:endParaRPr/>
          </a:p>
          <a:p>
            <a:pPr>
              <a:lnSpc>
                <a:spcPct val="155000"/>
              </a:lnSpc>
            </a:pP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③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查看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deliverables/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下生成的白底图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514350" y="3590925"/>
            <a:ext cx="5838825" cy="3429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交付物：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1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张白底商品图（真实电商素材，截图归档到学号文件夹）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6753225" y="1066800"/>
            <a:ext cx="5133975" cy="2133600"/>
          </a:xfrm>
          <a:prstGeom prst="roundRect">
            <a:avLst>
              <a:gd name="adj" fmla="val 535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6943725" y="1257300"/>
            <a:ext cx="47529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新增构件</a:t>
            </a:r>
            <a:r>
              <a:rPr lang="en-US" sz="1800" b="1">
                <a:solidFill>
                  <a:srgbClr val="0E3F8C"/>
                </a:solidFill>
                <a:latin typeface="Microsoft YaHei"/>
                <a:ea typeface="Microsoft YaHei"/>
              </a:rPr>
              <a:t> · </a:t>
            </a: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代码位置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6943725" y="1628775"/>
            <a:ext cx="4752975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>adapters.stage1_remove_bg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：调用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UAPI(uapis.cn)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免费抠图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API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，去底返回白底图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6943725" y="2362200"/>
            <a:ext cx="4752975" cy="3238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>cli.py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：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--input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解析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+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调度入口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6753225" y="3352800"/>
            <a:ext cx="5133975" cy="2095500"/>
          </a:xfrm>
          <a:prstGeom prst="roundRect">
            <a:avLst>
              <a:gd name="adj" fmla="val 5455"/>
            </a:avLst>
          </a:prstGeom>
          <a:solidFill>
            <a:srgbClr val="F0F5FC"/>
          </a:solidFill>
          <a:ln w="127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6943725" y="3543300"/>
            <a:ext cx="47529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教师备课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6943725" y="3895725"/>
            <a:ext cx="475297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·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一键包代码已写好（弱生直接跑）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6943725" y="4267200"/>
            <a:ext cx="475297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· UAPI_KEY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免费申请指引（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uapis.cn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6943725" y="4638675"/>
            <a:ext cx="475297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·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命令速查卡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0" y="5753100"/>
            <a:ext cx="12192000" cy="7620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304800" y="6038850"/>
            <a:ext cx="2162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最低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一键包跑出白底图并截图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2619375" y="6038850"/>
            <a:ext cx="25050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期望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自己配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 UAPI_KEY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跑命令出图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5276850" y="6038850"/>
            <a:ext cx="2419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挑战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读懂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 cli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参数、改输出文件名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11277600" y="66103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04 / 12</a:t>
            </a:r>
            <a:endParaRPr/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29" name="" descr="&lt;Slide style={{ width: '1280px', height: '720px', padding: 0, background: '#FFFFFF', display: 'flex', flexDirection: 'column' }}&gt;&#10;  &lt;Box style={{ background: '#0E3F8C', height: 80, display: 'flex', alignItems: 'center', paddingLeft: 48 }}&gt;&#10;    &lt;Text style={{ color: '#FFFFFF', fontSize: 26, fontWeight: 'bold' }}&gt;V2 场景图&lt;/Text&gt;&#10;  &lt;/Box&gt;&#10;  &lt;Box style={{ flex: 1, display: 'flex', flexDirection: 'row' }}&gt;&#10;    &lt;Box style={{ width: 320, background: '#F0F5FC', display: 'flex', flexDirection: 'column', justifyContent: 'center', padding: 48 }}&gt;&#10;      &lt;Text style={{ fontSize: 64, fontWeight: 'bold', color: '#0E3F8C' }}&gt;V2&lt;/Text&gt;&#10;      &lt;Text style={{ fontSize: 22, color: '#4A5568', marginTop: 8 }}&gt;场景图&lt;/Text&gt;&#10;      &lt;Text style={{ fontSize: 16, color: '#8B97A8', marginTop: 14 }}&gt;建议 1 次课&lt;/Text&gt;&#10;    &lt;/Box&gt;&#10;    &lt;Box style={{ flex: 1, display: 'flex', flexDirection: 'column', justifyContent: 'center', padding: '0 48px', gap: 14 }}&gt;&#10;      &lt;Box style={{ background: '#F7F9FC', border: '1px solid #D6DCE5', borderRadius: 10, padding: 16, display: 'flex', flexDirection: 'column', gap: 6 }}&gt;&#10;        &lt;Text style={{ fontSize: 22, fontWeight: 'bold', color: '#0E3F8C' }}&gt;功能目标&lt;/Text&gt;&#10;        &lt;Text style={{ fontSize: 18, color: '#1A2230', lineHeight: 1.5 }}&gt;白底图 → 2–3 张场景图（保留产品外观，生成完整使用场景图）&lt;/Text&gt;&#10;      &lt;/Box&gt;&#10;      &lt;Box style={{ background: '#F7F9FC', border: '1px solid #D6DCE5', borderRadius: 10, padding: 16, display: 'flex', flexDirection: 'column', gap: 6 }}&gt;&#10;        &lt;Text style={{ fontSize: 22, fontWeight: 'bold', color: '#0E3F8C' }}&gt;学生任务&lt;/Text&gt;&#10;        &lt;Text style={{ fontSize: 18, color: '#1A2230', lineHeight: 1.5 }}&gt;一键包出 2–3 张场景图；中档自己写/调场景 prompts 模板；强档在 generate 加自定义场景&lt;/Text&gt;&#10;      &lt;/Box&gt;&#10;      &lt;Box style={{ background: '#F7F9FC', border: '1px solid #D6DCE5', borderRadius: 10, padding: 16, display: 'flex', flexDirection: 'column', gap: 6 }}&gt;&#10;        &lt;Text style={{ fontSize: 22, fontWeight: 'bold', color: '#0E3F8C' }}&gt;新增构件&lt;/Text&gt;&#10;        &lt;Text style={{ fontSize: 18, color: '#1A2230', lineHeight: 1.5 }}&gt;adapters.stage2_scene（Seedream 4.0 参考图生图）＋ prompts.py（平台规范 + 提示词模板）&lt;/Text&gt;&#10;      &lt;/Box&gt;&#10;      &lt;Box style={{ background: '#F0F5FC', border: '1px solid #1E4FA8', borderRadius: 10, padding: 16, display: 'flex', flexDirection: 'column', gap: 6 }}&gt;&#10;        &lt;Text style={{ fontSize: 22, fontWeight: 'bold', color: '#0E3F8C' }}&gt;教师备课&lt;/Text&gt;&#10;        &lt;Text style={{ fontSize: 18, color: '#4A5568', lineHeight: 1.5 }}&gt;prompts.py 模板图文指引（路径/参数已预设，学生主要改模板）&lt;/Text&gt;&#10;      &lt;/Box&gt;&#10;    &lt;/Box&gt;&#10;  &lt;/Box&gt;&#10;  &lt;Box style={{ height: 80, display: 'flex', flexDirection: 'row', alignItems: 'center', padding: '0 32', gap: 16, background: '#E8EFF8' }}&gt;&#10;    &lt;Text style={{ fontSize: 17, color: '#1A2230' }}&gt;&lt;span style={{ fontWeight: 'bold', color: '#1E4FA8' }}&gt;最低&lt;/span&gt; 一键包出 2 张场景图&lt;/Text&gt;&#10;    &lt;Text style={{ fontSize: 17, color: '#1A2230' }}&gt;&lt;span style={{ fontWeight: 'bold', color: '#1E4FA8' }}&gt;期望&lt;/span&gt; 自己写/调场景 prompts&lt;/Text&gt;&#10;    &lt;Text style={{ fontSize: 17, color: '#1A2230' }}&gt;&lt;span style={{ fontWeight: 'bold', color: '#1E4FA8' }}&gt;挑战&lt;/span&gt; 加一个自定义场景&lt;/Text&gt;&#10;  &lt;/Box&gt;&#10;  &lt;Box style={{ height: 36, display: 'flex', alignItems: 'center', justifyContent: 'flex-end', padding: '0 48px' }}&gt;&#10;    &lt;Text style={{ fontSize: 14, color: '#8B97A8' }}&gt;05 / 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1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457200" y="228600"/>
            <a:ext cx="11525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V2 </a:t>
            </a: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场景图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0" y="762000"/>
            <a:ext cx="3048000" cy="49911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457200" y="2562225"/>
            <a:ext cx="21336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0E3F8C"/>
                </a:solidFill>
                <a:latin typeface="Microsoft YaHei"/>
                <a:ea typeface="Microsoft YaHei"/>
              </a:rPr>
              <a:t>V2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457200" y="3371850"/>
            <a:ext cx="2133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场景图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457200" y="3762375"/>
            <a:ext cx="2133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建议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1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次课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3505200" y="1190625"/>
            <a:ext cx="8229600" cy="933450"/>
          </a:xfrm>
          <a:prstGeom prst="roundRect">
            <a:avLst>
              <a:gd name="adj" fmla="val 10204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3657600" y="1343025"/>
            <a:ext cx="7924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功能目标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3657600" y="1657350"/>
            <a:ext cx="79248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白底图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→ 2–3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张场景图（保留产品外观，生成完整使用场景图）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3505200" y="2257425"/>
            <a:ext cx="8229600" cy="933450"/>
          </a:xfrm>
          <a:prstGeom prst="roundRect">
            <a:avLst>
              <a:gd name="adj" fmla="val 10204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3657600" y="2409825"/>
            <a:ext cx="7924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学生任务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3657600" y="2724150"/>
            <a:ext cx="79248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一键包出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2–3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张场景图；中档自己写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/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调场景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prompts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模板；强档在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generate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加自定义场景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3505200" y="3324225"/>
            <a:ext cx="8229600" cy="933450"/>
          </a:xfrm>
          <a:prstGeom prst="roundRect">
            <a:avLst>
              <a:gd name="adj" fmla="val 10204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3657600" y="3476625"/>
            <a:ext cx="7924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新增构件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3657600" y="3790950"/>
            <a:ext cx="79248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adapters.stage2_scene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（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Seedream 4.0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参考图生图）＋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prompts.py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（平台规范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+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提示词模板）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3505200" y="4391025"/>
            <a:ext cx="8229600" cy="933450"/>
          </a:xfrm>
          <a:prstGeom prst="roundRect">
            <a:avLst>
              <a:gd name="adj" fmla="val 10204"/>
            </a:avLst>
          </a:prstGeom>
          <a:solidFill>
            <a:srgbClr val="F0F5FC"/>
          </a:solidFill>
          <a:ln w="127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3657600" y="4543425"/>
            <a:ext cx="7924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教师备课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3657600" y="4857750"/>
            <a:ext cx="79248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prompts.py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模板图文指引（路径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/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参数已预设，学生主要改模板）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0" y="5753100"/>
            <a:ext cx="12192000" cy="7620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304800" y="6038850"/>
            <a:ext cx="1866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最低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一键包出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 2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张场景图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2324100" y="6038850"/>
            <a:ext cx="21240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期望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自己写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/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调场景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 prompts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4600575" y="6038850"/>
            <a:ext cx="1676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挑战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加一个自定义场景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11277600" y="66103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05 / 12</a:t>
            </a:r>
            <a:endParaRPr/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54" name="" descr="&lt;Slide style={{ width: '1280px', height: '720px', padding: 0, background: '#FFFFFF', display: 'flex', flexDirection: 'column' }}&gt;&#10;  &lt;Box style={{ background: '#0E3F8C', height: 80, display: 'flex', alignItems: 'center', justifyContent: 'space-between', paddingLeft: 48, paddingRight: 40 }}&gt;&#10;    &lt;Text style={{ color: '#FFFFFF', fontSize: 26, fontWeight: 'bold' }}&gt;V3 商品页（真家伙成型）&lt;/Text&gt;&#10;    &lt;Box style={{ background: '#E8EFF8', borderRadius: 10, padding: '6px 18px' }}&gt;&#10;      &lt;Text style={{ fontSize: 26, fontWeight: 'bold', color: '#0E3F8C' }}&gt;V3&lt;/Text&gt;&#10;    &lt;/Box&gt;&#10;  &lt;/Box&gt;&#10;  &lt;Box style={{ flex: 1, display: 'flex', flexDirection: 'row', padding: 32, gap: 20 }}&gt;&#10;    &lt;Box style={{ flex: 1.22, background: '#F7F9FC', border: '1px solid #D6DCE5', borderRadius: 12, padding: 22, display: 'flex', flexDirection: 'column', gap: 12 }}&gt;&#10;      &lt;Text style={{ fontSize: 24, fontWeight: 'bold', color: '#0E3F8C' }}&gt;学生任务 · 当版做什么&lt;/Text&gt;&#10;      &lt;Text style={{ fontSize: 19, color: '#1A2230', lineHeight: 1.55 }}&gt;&#10;        &lt;span style={{ fontWeight: 'bold' }}&gt;功能目标：&lt;/span&gt;白底图 + 场景图 → 可浏览商品页（&quot;真家伙&quot;在此成型）&#10;      &lt;/Text&gt;&#10;      &lt;Text style={{ fontSize: 19, color: '#1A2230', lineHeight: 1.55 }}&gt;&#10;        &lt;span style={{ fontWeight: 'bold' }}&gt;任务：&lt;/span&gt;一键包出商品页；中档自己把商品名/卖点填进数据；强档改页面样式或加数据字段&#10;      &lt;/Text&gt;&#10;      &lt;Text style={{ fontSize: 19, color: '#1A2230', lineHeight: 1.55 }}&gt;&#10;        &lt;span style={{ fontWeight: 'bold' }}&gt;交付物：&lt;/span&gt;可浏览商品页（含 sku.json/js + WebP 压缩图，按学号分文件夹）&#10;      &lt;/Text&gt;&#10;    &lt;/Box&gt;&#10;    &lt;Box style={{ flex: 1, display: 'flex', flexDirection: 'column', gap: 16 }}&gt;&#10;      &lt;Box style={{ flex: 1, background: '#F7F9FC', border: '1px solid #D6DCE5', borderRadius: 12, padding: 20, display: 'flex', flexDirection: 'column', gap: 10 }}&gt;&#10;        &lt;Text style={{ fontSize: 24, fontWeight: 'bold', color: '#0E3F8C' }}&gt;新增构件 · 代码位置&lt;/Text&gt;&#10;        &lt;Text style={{ fontSize: 18, color: '#1A2230', lineHeight: 1.5 }}&gt;&#10;          &lt;span style={{ fontWeight: 'bold' }}&gt;pipeline.write_sku_data&lt;/span&gt;：数据化 sku（名称/卖点/图清单）&#10;        &lt;/Text&gt;&#10;        &lt;Text style={{ fontSize: 18, color: '#1A2230', lineHeight: 1.5 }}&gt;&#10;          &lt;span style={{ fontWeight: 'bold' }}&gt;pipeline.stage_optimize_web&lt;/span&gt;：WebP 压缩 ＋ 商品页 ＋ 学号定位&#10;        &lt;/Text&gt;&#10;      &lt;/Box&gt;&#10;      &lt;Box style={{ flex: 1, background: '#F0F5FC', border: '1px solid #1E4FA8', borderRadius: 12, padding: 20, display: 'flex', flexDirection: 'column', gap: 8 }}&gt;&#10;        &lt;Text style={{ fontSize: 24, fontWeight: 'bold', color: '#0E3F8C' }}&gt;教师备课&lt;/Text&gt;&#10;        &lt;Text style={{ fontSize: 17, color: '#4A5568', lineHeight: 1.5 }}&gt;· 商品页模板&lt;/Text&gt;&#10;        &lt;Text style={{ fontSize: 17, color: '#4A5568', lineHeight: 1.5 }}&gt;· 学号定位说明（交付物按学号分文件夹）&lt;/Text&gt;&#10;      &lt;/Box&gt;&#10;    &lt;/Box&gt;&#10;  &lt;/Box&gt;&#10;  &lt;Box style={{ height: 80, display: 'flex', flexDirection: 'row', alignItems: 'center', padding: '0 32', gap: 16, background: '#E8EFF8' }}&gt;&#10;    &lt;Text style={{ fontSize: 17, color: '#1A2230' }}&gt;&lt;span style={{ fontWeight: 'bold', color: '#1E4FA8' }}&gt;最低&lt;/span&gt; 一键包出商品页&lt;/Text&gt;&#10;    &lt;Text style={{ fontSize: 17, color: '#1A2230' }}&gt;&lt;span style={{ fontWeight: 'bold', color: '#1E4FA8' }}&gt;期望&lt;/span&gt; 自己填商品名/卖点&lt;/Text&gt;&#10;    &lt;Text style={{ fontSize: 17, color: '#1A2230' }}&gt;&lt;span style={{ fontWeight: 'bold', color: '#1E4FA8' }}&gt;挑战&lt;/span&gt; 改页面样式或加数据字段&lt;/Text&gt;&#10;  &lt;/Box&gt;&#10;  &lt;Box style={{ height: 36, display: 'flex', alignItems: 'center', justifyContent: 'flex-end', padding: '0 48px' }}&gt;&#10;    &lt;Text style={{ fontSize: 14, color: '#8B97A8' }}&gt;06 / 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6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457200" y="228600"/>
            <a:ext cx="28860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V3 </a:t>
            </a: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商品页（真家伙成型）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11134725" y="171450"/>
            <a:ext cx="676275" cy="419100"/>
          </a:xfrm>
          <a:prstGeom prst="roundRect">
            <a:avLst>
              <a:gd name="adj" fmla="val 22727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11306175" y="228600"/>
            <a:ext cx="3333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E3F8C"/>
                </a:solidFill>
                <a:latin typeface="Microsoft YaHei"/>
                <a:ea typeface="Microsoft YaHei"/>
              </a:rPr>
              <a:t>V3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304800" y="1066800"/>
            <a:ext cx="6257925" cy="4381500"/>
          </a:xfrm>
          <a:prstGeom prst="roundRect">
            <a:avLst>
              <a:gd name="adj" fmla="val 260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514350" y="1276350"/>
            <a:ext cx="58388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学生任务</a:t>
            </a:r>
            <a:r>
              <a:rPr lang="en-US" sz="1800" b="1">
                <a:solidFill>
                  <a:srgbClr val="0E3F8C"/>
                </a:solidFill>
                <a:latin typeface="Microsoft YaHei"/>
                <a:ea typeface="Microsoft YaHei"/>
              </a:rPr>
              <a:t> · </a:t>
            </a: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当版做什么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514350" y="1666875"/>
            <a:ext cx="5838825" cy="3429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功能目标：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白底图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+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场景图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→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可浏览商品页（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真家伙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在此成型）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514350" y="2124075"/>
            <a:ext cx="5838825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任务：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一键包出商品页；中档自己把商品名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/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卖点填进数据；强档改页面样式或加数据字段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514350" y="2914650"/>
            <a:ext cx="5838825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交付物：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可浏览商品页（含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sku.json/js + WebP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压缩图，按学号分文件夹）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6753225" y="1066800"/>
            <a:ext cx="5133975" cy="2305050"/>
          </a:xfrm>
          <a:prstGeom prst="roundRect">
            <a:avLst>
              <a:gd name="adj" fmla="val 495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6943725" y="1257300"/>
            <a:ext cx="47529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新增构件</a:t>
            </a:r>
            <a:r>
              <a:rPr lang="en-US" sz="1800" b="1">
                <a:solidFill>
                  <a:srgbClr val="0E3F8C"/>
                </a:solidFill>
                <a:latin typeface="Microsoft YaHei"/>
                <a:ea typeface="Microsoft YaHei"/>
              </a:rPr>
              <a:t> · </a:t>
            </a: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代码位置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6943725" y="1628775"/>
            <a:ext cx="475297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>pipeline.write_sku_data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：数据化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sku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（名称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/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卖点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/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图清单）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6943725" y="2038350"/>
            <a:ext cx="475297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>pipeline.stage_optimize_web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：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WebP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压缩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＋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商品页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＋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学号定位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6753225" y="3524250"/>
            <a:ext cx="5133975" cy="1924050"/>
          </a:xfrm>
          <a:prstGeom prst="roundRect">
            <a:avLst>
              <a:gd name="adj" fmla="val 5941"/>
            </a:avLst>
          </a:prstGeom>
          <a:solidFill>
            <a:srgbClr val="F0F5FC"/>
          </a:solidFill>
          <a:ln w="127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6943725" y="3714750"/>
            <a:ext cx="47529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教师备课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6943725" y="4067175"/>
            <a:ext cx="475297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·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商品页模板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6943725" y="4438650"/>
            <a:ext cx="475297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·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学号定位说明（交付物按学号分文件夹）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0" y="5753100"/>
            <a:ext cx="12192000" cy="7620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304800" y="6038850"/>
            <a:ext cx="1514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最低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一键包出商品页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1971675" y="6038850"/>
            <a:ext cx="17430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期望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自己填商品名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/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卖点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3867150" y="6038850"/>
            <a:ext cx="2162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挑战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改页面样式或加数据字段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11277600" y="66103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06 / 12</a:t>
            </a:r>
            <a:endParaRPr/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78" name="" descr="&lt;Slide style={{ width: '1280px', height: '720px', padding: 0, background: '#FFFFFF', display: 'flex', flexDirection: 'column' }}&gt;&#10;  &lt;Box style={{ background: '#0E3F8C', height: 80, display: 'flex', alignItems: 'center', paddingLeft: 48 }}&gt;&#10;    &lt;Text style={{ color: '#FFFFFF', fontSize: 26, fontWeight: 'bold' }}&gt;V4 识别闭环&lt;/Text&gt;&#10;  &lt;/Box&gt;&#10;  &lt;Box style={{ flex: 1, display: 'flex', flexDirection: 'row' }}&gt;&#10;    &lt;Box style={{ width: 320, background: '#F0F5FC', display: 'flex', flexDirection: 'column', justifyContent: 'center', padding: 48 }}&gt;&#10;      &lt;Text style={{ fontSize: 64, fontWeight: 'bold', color: '#0E3F8C' }}&gt;V4&lt;/Text&gt;&#10;      &lt;Text style={{ fontSize: 22, color: '#4A5568', marginTop: 8 }}&gt;识别闭环&lt;/Text&gt;&#10;      &lt;Text style={{ fontSize: 16, color: '#8B97A8', marginTop: 14 }}&gt;建议 1 次课&lt;/Text&gt;&#10;    &lt;/Box&gt;&#10;    &lt;Box style={{ flex: 1, display: 'flex', flexDirection: 'column', justifyContent: 'center', padding: '0 48px', gap: 14 }}&gt;&#10;      &lt;Box style={{ background: '#F7F9FC', border: '1px solid #D6DCE5', borderRadius: 10, padding: 16, display: 'flex', flexDirection: 'column', gap: 6 }}&gt;&#10;        &lt;Text style={{ fontSize: 22, fontWeight: 'bold', color: '#0E3F8C' }}&gt;功能目标&lt;/Text&gt;&#10;        &lt;Text style={{ fontSize: 18, color: '#1A2230', lineHeight: 1.5 }}&gt;照片丢入 → 全自动出全套（S0 识别闭环，无需手填商品名）&lt;/Text&gt;&#10;      &lt;/Box&gt;&#10;      &lt;Box style={{ background: '#F7F9FC', border: '1px solid #D6DCE5', borderRadius: 10, padding: 16, display: 'flex', flexDirection: 'column', gap: 6 }}&gt;&#10;        &lt;Text style={{ fontSize: 22, fontWeight: 'bold', color: '#0E3F8C' }}&gt;学生任务&lt;/Text&gt;&#10;        &lt;Text style={{ fontSize: 18, color: '#1A2230', lineHeight: 1.5 }}&gt;一键包跑通全自动；中档看 S0 输出、判断识别质量；强档微调识别 prompt 提升准确性&lt;/Text&gt;&#10;      &lt;/Box&gt;&#10;      &lt;Box style={{ background: '#F7F9FC', border: '1px solid #D6DCE5', borderRadius: 10, padding: 16, display: 'flex', flexDirection: 'column', gap: 6 }}&gt;&#10;        &lt;Text style={{ fontSize: 22, fontWeight: 'bold', color: '#0E3F8C' }}&gt;新增构件&lt;/Text&gt;&#10;        &lt;Text style={{ fontSize: 18, color: '#1A2230', lineHeight: 1.5 }}&gt;adapters.stage0_recognize（豆包视觉 · 图生文：识别商品名/卖点/建议场景）&lt;/Text&gt;&#10;      &lt;/Box&gt;&#10;      &lt;Box style={{ background: '#F0F5FC', border: '1px solid #1E4FA8', borderRadius: 10, padding: 16, display: 'flex', flexDirection: 'column', gap: 6 }}&gt;&#10;        &lt;Text style={{ fontSize: 22, fontWeight: 'bold', color: '#0E3F8C' }}&gt;教师备课&lt;/Text&gt;&#10;        &lt;Text style={{ fontSize: 18, color: '#4A5568', lineHeight: 1.5 }}&gt;基本无需额外准备（全自动）；可备&quot;识别质量判断&quot;提示卡&lt;/Text&gt;&#10;      &lt;/Box&gt;&#10;    &lt;/Box&gt;&#10;  &lt;/Box&gt;&#10;  &lt;Box style={{ height: 80, display: 'flex', flexDirection: 'row', alignItems: 'center', padding: '0 32', gap: 16, background: '#E8EFF8' }}&gt;&#10;    &lt;Text style={{ fontSize: 17, color: '#1A2230' }}&gt;&lt;span style={{ fontWeight: 'bold', color: '#1E4FA8' }}&gt;最低&lt;/span&gt; 一键包跑通全自动&lt;/Text&gt;&#10;    &lt;Text style={{ fontSize: 17, color: '#1A2230' }}&gt;&lt;span style={{ fontWeight: 'bold', color: '#1E4FA8' }}&gt;期望&lt;/span&gt; 看 S0 输出判断识别质量&lt;/Text&gt;&#10;    &lt;Text style={{ fontSize: 17, color: '#1A2230' }}&gt;&lt;span style={{ fontWeight: 'bold', color: '#1E4FA8' }}&gt;挑战&lt;/span&gt; 微调识别 prompt 提升准确&lt;/Text&gt;&#10;  &lt;/Box&gt;&#10;  &lt;Box style={{ height: 36, display: 'flex', alignItems: 'center', justifyContent: 'flex-end', padding: '0 48px' }}&gt;&#10;    &lt;Text style={{ fontSize: 14, color: '#8B97A8' }}&gt;07 / 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0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457200" y="228600"/>
            <a:ext cx="14001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V4 </a:t>
            </a: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识别闭环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0" y="762000"/>
            <a:ext cx="3048000" cy="49911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457200" y="2562225"/>
            <a:ext cx="21336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0E3F8C"/>
                </a:solidFill>
                <a:latin typeface="Microsoft YaHei"/>
                <a:ea typeface="Microsoft YaHei"/>
              </a:rPr>
              <a:t>V4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457200" y="3371850"/>
            <a:ext cx="2133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识别闭环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457200" y="3762375"/>
            <a:ext cx="2133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建议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1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次课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3505200" y="1190625"/>
            <a:ext cx="8229600" cy="933450"/>
          </a:xfrm>
          <a:prstGeom prst="roundRect">
            <a:avLst>
              <a:gd name="adj" fmla="val 10204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3657600" y="1343025"/>
            <a:ext cx="7924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功能目标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3657600" y="1657350"/>
            <a:ext cx="79248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照片丢入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→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全自动出全套（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S0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识别闭环，无需手填商品名）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3505200" y="2257425"/>
            <a:ext cx="8229600" cy="933450"/>
          </a:xfrm>
          <a:prstGeom prst="roundRect">
            <a:avLst>
              <a:gd name="adj" fmla="val 10204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3657600" y="2409825"/>
            <a:ext cx="7924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学生任务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3657600" y="2724150"/>
            <a:ext cx="79248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一键包跑通全自动；中档看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S0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输出、判断识别质量；强档微调识别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prompt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提升准确性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3505200" y="3324225"/>
            <a:ext cx="8229600" cy="933450"/>
          </a:xfrm>
          <a:prstGeom prst="roundRect">
            <a:avLst>
              <a:gd name="adj" fmla="val 10204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3657600" y="3476625"/>
            <a:ext cx="7924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新增构件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3657600" y="3790950"/>
            <a:ext cx="79248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adapters.stage0_recognize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（豆包视觉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图生文：识别商品名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/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卖点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/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建议场景）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3505200" y="4391025"/>
            <a:ext cx="8229600" cy="933450"/>
          </a:xfrm>
          <a:prstGeom prst="roundRect">
            <a:avLst>
              <a:gd name="adj" fmla="val 10204"/>
            </a:avLst>
          </a:prstGeom>
          <a:solidFill>
            <a:srgbClr val="F0F5FC"/>
          </a:solidFill>
          <a:ln w="127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3657600" y="4543425"/>
            <a:ext cx="7924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教师备课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3657600" y="4857750"/>
            <a:ext cx="79248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基本无需额外准备（全自动）；可备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识别质量判断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提示卡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0" y="5753100"/>
            <a:ext cx="12192000" cy="7620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304800" y="6038850"/>
            <a:ext cx="1676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最低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一键包跑通全自动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2133600" y="6038850"/>
            <a:ext cx="2114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期望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看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 S0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输出判断识别质量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4400550" y="6038850"/>
            <a:ext cx="2352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挑战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微调识别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 prompt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提升准确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11277600" y="66103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07 / 12</a:t>
            </a:r>
            <a:endParaRPr/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203" name="" descr="&lt;Slide style={{ width: '1280px', height: '720px', padding: 0, background: '#FFFFFF', display: 'flex', flexDirection: 'column' }}&gt;&#10;  &lt;Box style={{ background: '#0E3F8C', height: 80, display: 'flex', alignItems: 'center', justifyContent: 'space-between', paddingLeft: 48, paddingRight: 40 }}&gt;&#10;    &lt;Text style={{ color: '#FFFFFF', fontSize: 26, fontWeight: 'bold' }}&gt;V5 工程化收口&lt;/Text&gt;&#10;    &lt;Box style={{ background: '#E8EFF8', borderRadius: 10, padding: '6px 18px' }}&gt;&#10;      &lt;Text style={{ fontSize: 26, fontWeight: 'bold', color: '#0E3F8C' }}&gt;V5&lt;/Text&gt;&#10;    &lt;/Box&gt;&#10;  &lt;/Box&gt;&#10;  &lt;Box style={{ flex: 1, display: 'flex', flexDirection: 'row', padding: 32, gap: 20 }}&gt;&#10;    &lt;Box style={{ flex: 1.22, background: '#F7F9FC', border: '1px solid #D6DCE5', borderRadius: 12, padding: 22, display: 'flex', flexDirection: 'column', gap: 12 }}&gt;&#10;      &lt;Text style={{ fontSize: 24, fontWeight: 'bold', color: '#0E3F8C' }}&gt;学生任务 · 当版做什么&lt;/Text&gt;&#10;      &lt;Text style={{ fontSize: 19, color: '#1A2230', lineHeight: 1.55 }}&gt;&#10;        &lt;span style={{ fontWeight: 'bold' }}&gt;功能目标：&lt;/span&gt;上一版管线 + 质检筛选 + 错误处理 + 归档日志 = 生产级管线&#10;      &lt;/Text&gt;&#10;      &lt;Text style={{ fontSize: 19, color: '#1A2230', lineHeight: 1.55 }}&gt;&#10;        &lt;span style={{ fontWeight: 'bold' }}&gt;任务：&lt;/span&gt;一键包跑通并交反思单；中档能描述一次自己遇到的报错；强档修一个故障/加一个构件&#10;      &lt;/Text&gt;&#10;      &lt;Text style={{ fontSize: 19, color: '#1A2230', lineHeight: 1.55 }}&gt;&#10;        &lt;span style={{ fontWeight: 'bold' }}&gt;交付物：&lt;/span&gt;生产级管线 ＋ 反思单 ＋ 口头 2 分钟&#10;      &lt;/Text&gt;&#10;    &lt;/Box&gt;&#10;    &lt;Box style={{ flex: 1, display: 'flex', flexDirection: 'column', gap: 16 }}&gt;&#10;      &lt;Box style={{ flex: 1, background: '#F7F9FC', border: '1px solid #D6DCE5', borderRadius: 12, padding: 20, display: 'flex', flexDirection: 'column', gap: 10 }}&gt;&#10;        &lt;Text style={{ fontSize: 24, fontWeight: 'bold', color: '#0E3F8C' }}&gt;新增构件 · 代码位置&lt;/Text&gt;&#10;        &lt;Text style={{ fontSize: 18, color: '#1A2230', lineHeight: 1.5 }}&gt;&#10;          &lt;span style={{ fontWeight: 'bold' }}&gt;pipeline.pick_best / count_status&lt;/span&gt;：质检筛选（废片率）&#10;        &lt;/Text&gt;&#10;        &lt;Text style={{ fontSize: 18, color: '#1A2230', lineHeight: 1.5 }}&gt;&#10;          错误处理（404/JSON 解析）＋ 归档日志（production_log.csv）&#10;        &lt;/Text&gt;&#10;      &lt;/Box&gt;&#10;      &lt;Box style={{ flex: 1, background: '#F0F5FC', border: '1px solid #1E4FA8', borderRadius: 12, padding: 20, display: 'flex', flexDirection: 'column', gap: 8 }}&gt;&#10;        &lt;Text style={{ fontSize: 24, fontWeight: 'bold', color: '#0E3F8C' }}&gt;教师备课&lt;/Text&gt;&#10;        &lt;Text style={{ fontSize: 17, color: '#4A5568', lineHeight: 1.5 }}&gt;· 故障练习卡（故意留 404 / JSON 错）&lt;/Text&gt;&#10;        &lt;Text style={{ fontSize: 17, color: '#4A5568', lineHeight: 1.5 }}&gt;· 反思单模板 + 口头 2 分钟评分标准&lt;/Text&gt;&#10;      &lt;/Box&gt;&#10;    &lt;/Box&gt;&#10;  &lt;/Box&gt;&#10;  &lt;Box style={{ height: 80, display: 'flex', flexDirection: 'row', alignItems: 'center', padding: '0 32', gap: 16, background: '#E8EFF8' }}&gt;&#10;    &lt;Text style={{ fontSize: 17, color: '#1A2230' }}&gt;&lt;span style={{ fontWeight: 'bold', color: '#1E4FA8' }}&gt;最低&lt;/span&gt; 跑通并交反思单&lt;/Text&gt;&#10;    &lt;Text style={{ fontSize: 17, color: '#1A2230' }}&gt;&lt;span style={{ fontWeight: 'bold', color: '#1E4FA8' }}&gt;期望&lt;/span&gt; 描述一次自己遇到的报错&lt;/Text&gt;&#10;    &lt;Text style={{ fontSize: 17, color: '#1A2230' }}&gt;&lt;span style={{ fontWeight: 'bold', color: '#1E4FA8' }}&gt;挑战&lt;/span&gt; 修一个故障 / 加一个构件&lt;/Text&gt;&#10;  &lt;/Box&gt;&#10;  &lt;Box style={{ height: 36, display: 'flex', alignItems: 'center', justifyContent: 'flex-end', padding: '0 48px' }}&gt;&#10;    &lt;Text style={{ fontSize: 14, color: '#8B97A8' }}&gt;08 / 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5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457200" y="228600"/>
            <a:ext cx="16478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V5 </a:t>
            </a: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工程化收口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11134725" y="171450"/>
            <a:ext cx="676275" cy="419100"/>
          </a:xfrm>
          <a:prstGeom prst="roundRect">
            <a:avLst>
              <a:gd name="adj" fmla="val 22727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11306175" y="228600"/>
            <a:ext cx="3333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E3F8C"/>
                </a:solidFill>
                <a:latin typeface="Microsoft YaHei"/>
                <a:ea typeface="Microsoft YaHei"/>
              </a:rPr>
              <a:t>V5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304800" y="1066800"/>
            <a:ext cx="6257925" cy="4381500"/>
          </a:xfrm>
          <a:prstGeom prst="roundRect">
            <a:avLst>
              <a:gd name="adj" fmla="val 260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514350" y="1276350"/>
            <a:ext cx="58388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学生任务</a:t>
            </a:r>
            <a:r>
              <a:rPr lang="en-US" sz="1800" b="1">
                <a:solidFill>
                  <a:srgbClr val="0E3F8C"/>
                </a:solidFill>
                <a:latin typeface="Microsoft YaHei"/>
                <a:ea typeface="Microsoft YaHei"/>
              </a:rPr>
              <a:t> · </a:t>
            </a: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当版做什么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514350" y="1666875"/>
            <a:ext cx="5838825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功能目标：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上一版管线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+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质检筛选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+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错误处理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+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归档日志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=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生产级管线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514350" y="2457450"/>
            <a:ext cx="5838825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任务：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一键包跑通并交反思单；中档能描述一次自己遇到的报错；强档修一个故障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/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加一个构件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514350" y="3248025"/>
            <a:ext cx="5838825" cy="3429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425" b="1">
                <a:solidFill>
                  <a:srgbClr val="1A2230"/>
                </a:solidFill>
                <a:latin typeface="Microsoft YaHei"/>
                <a:ea typeface="Microsoft YaHei"/>
              </a:rPr>
              <a:t>交付物：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生产级管线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＋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反思单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＋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口头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2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6753225" y="1066800"/>
            <a:ext cx="5133975" cy="2305050"/>
          </a:xfrm>
          <a:prstGeom prst="roundRect">
            <a:avLst>
              <a:gd name="adj" fmla="val 495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6943725" y="1257300"/>
            <a:ext cx="47529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新增构件</a:t>
            </a:r>
            <a:r>
              <a:rPr lang="en-US" sz="1800" b="1">
                <a:solidFill>
                  <a:srgbClr val="0E3F8C"/>
                </a:solidFill>
                <a:latin typeface="Microsoft YaHei"/>
                <a:ea typeface="Microsoft YaHei"/>
              </a:rPr>
              <a:t> · </a:t>
            </a: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代码位置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6943725" y="1628775"/>
            <a:ext cx="475297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50" b="1">
                <a:solidFill>
                  <a:srgbClr val="1A2230"/>
                </a:solidFill>
                <a:latin typeface="Microsoft YaHei"/>
                <a:ea typeface="Microsoft YaHei"/>
              </a:rPr>
              <a:t>pipeline.pick_best / count_status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：质检筛选（废片率）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6943725" y="2038350"/>
            <a:ext cx="475297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错误处理（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404/JSON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解析）＋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归档日志（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production_log.csv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6753225" y="3524250"/>
            <a:ext cx="5133975" cy="1924050"/>
          </a:xfrm>
          <a:prstGeom prst="roundRect">
            <a:avLst>
              <a:gd name="adj" fmla="val 5941"/>
            </a:avLst>
          </a:prstGeom>
          <a:solidFill>
            <a:srgbClr val="F0F5FC"/>
          </a:solidFill>
          <a:ln w="127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6943725" y="3714750"/>
            <a:ext cx="47529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教师备课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6943725" y="4067175"/>
            <a:ext cx="475297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·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故障练习卡（故意留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404 / JSON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错）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6943725" y="4438650"/>
            <a:ext cx="475297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·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反思单模板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口头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2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分钟评分标准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0" y="5753100"/>
            <a:ext cx="12192000" cy="7620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304800" y="6038850"/>
            <a:ext cx="1514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最低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跑通并交反思单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1971675" y="6038850"/>
            <a:ext cx="2162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期望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描述一次自己遇到的报错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4286250" y="6038850"/>
            <a:ext cx="2162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E4FA8"/>
                </a:solidFill>
                <a:latin typeface="Microsoft YaHei"/>
                <a:ea typeface="Microsoft YaHei"/>
              </a:rPr>
              <a:t>挑战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修一个故障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 /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加一个构件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11277600" y="66103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08 / 12</a:t>
            </a:r>
            <a:endParaRPr/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227" name="" descr="&lt;Slide style={{ width: '1280px', height: '720px', padding: 0, background: '#FFFFFF', display: 'flex', flexDirection: 'column' }}&gt;&#10;  &lt;Box style={{ background: '#0E3F8C', height: 80, display: 'flex', alignItems: 'center', paddingLeft: 48 }}&gt;&#10;    &lt;Text style={{ color: '#FFFFFF', fontSize: 26, fontWeight: 'bold' }}&gt;三种走法：跟跑 / 并跑 / 领跑&lt;/Text&gt;&#10;  &lt;/Box&gt;&#10;  &lt;Box style={{ flex: 1, display: 'flex', flexDirection: 'row', padding: 36, gap: 24 }}&gt;&#10;    &lt;Box style={{ flex: 1, background: '#F7F9FC', border: '1px solid #D6DCE5', borderRadius: 12, padding: 24, display: 'flex', flexDirection: 'column', gap: 12 }}&gt;&#10;      &lt;Box style={{ background: '#1E4FA8', borderRadius: 8, padding: '8px 14px', alignSelf: 'flex-start' }}&gt;&#10;        &lt;Text style={{ color: '#FFFFFF', fontSize: 22, fontWeight: 'bold' }}&gt;跟跑（弱）&lt;/Text&gt;&#10;      &lt;/Box&gt;&#10;      &lt;Text style={{ fontSize: 18, color: '#1A2230', lineHeight: 1.55 }}&gt;&#10;        代码包已写好。cp env.example .env 填 key → python -m manhua_studio --input 照片.jpg → 出 deliverables/学号/&#10;      &lt;/Text&gt;&#10;      &lt;Text style={{ fontSize: 17, color: '#4A5568', lineHeight: 1.5 }}&gt;达标线 = 最低档（靠写好的代码包）&lt;/Text&gt;&#10;      &lt;Text style={{ fontSize: 17, color: '#4A5568', lineHeight: 1.5 }}&gt;重在跑通 + 读懂&quot;一张照片变一整套商品图&quot;&lt;/Text&gt;&#10;    &lt;/Box&gt;&#10;    &lt;Box style={{ flex: 1, background: '#F7F9FC', border: '1px solid #D6DCE5', borderRadius: 12, padding: 24, display: 'flex', flexDirection: 'column', gap: 12 }}&gt;&#10;      &lt;Box style={{ background: '#3D7BD9', borderRadius: 8, padding: '8px 14px', alignSelf: 'flex-start' }}&gt;&#10;        &lt;Text style={{ color: '#FFFFFF', fontSize: 22, fontWeight: 'bold' }}&gt;并跑（中）&lt;/Text&gt;&#10;      &lt;/Box&gt;&#10;      &lt;Text style={{ fontSize: 18, color: '#1A2230', lineHeight: 1.55 }}&gt;&#10;        填 prompts.py 模板 + 调参数，改出图风格/场景。路径与参数已预设。&#10;      &lt;/Text&gt;&#10;      &lt;Text style={{ fontSize: 17, color: '#4A5568', lineHeight: 1.5 }}&gt;期望档 = 自己改模板产出不同素材&lt;/Text&gt;&#10;      &lt;Text style={{ fontSize: 17, color: '#4A5568', lineHeight: 1.5 }}&gt;理解提示词如何驱动结果&lt;/Text&gt;&#10;    &lt;/Box&gt;&#10;    &lt;Box style={{ flex: 1, background: '#F7F9FC', border: '1px solid #D6DCE5', borderRadius: 12, padding: 24, display: 'flex', flexDirection: 'column', gap: 12 }}&gt;&#10;      &lt;Box style={{ background: '#0E3F8C', borderRadius: 8, padding: '8px 14px', alignSelf: 'flex-start' }}&gt;&#10;        &lt;Text style={{ color: '#FFFFFF', fontSize: 22, fontWeight: 'bold' }}&gt;领跑（强）&lt;/Text&gt;&#10;      &lt;/Box&gt;&#10;      &lt;Text style={{ fontSize: 18, color: '#1A2230', lineHeight: 1.55 }}&gt;&#10;        指到 adapters.py / pipeline.py + 故障练习卡，自己写代码、排错、加构件。&#10;      &lt;/Text&gt;&#10;      &lt;Text style={{ fontSize: 17, color: '#4A5568', lineHeight: 1.5 }}&gt;挑战档 = 修故障 / 扩展管线&lt;/Text&gt;&#10;      &lt;Text style={{ fontSize: 17, color: '#4A5568', lineHeight: 1.5 }}&gt;三档都写/读代码，只是 AI 扶持度不同&lt;/Text&gt;&#10;    &lt;/Box&gt;&#10;  &lt;/Box&gt;&#10;  &lt;Box style={{ height: 64, display: 'flex', alignItems: 'center', padding: '0 36', background: '#E8EFF8' }}&gt;&#10;    &lt;Text style={{ fontSize: 18, color: '#1A2230' }}&gt;&lt;span style={{ fontWeight: 'bold', color: '#1E4FA8' }}&gt;阶梯钩子：&lt;/span&gt;一键包是&quot;入口&quot;不是&quot;差生标签&quot;——能力强的自然想往上爬到并跑/领跑。&lt;/Text&gt;&#10;  &lt;/Box&gt;&#10;  &lt;Box style={{ height: 36, display: 'flex', alignItems: 'center', justifyContent: 'flex-end', padding: '0 48px' }}&gt;&#10;    &lt;Text style={{ fontSize: 14, color: '#8B97A8' }}&gt;09 / 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9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457200" y="228600"/>
            <a:ext cx="32575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三种走法：跟跑</a:t>
            </a: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 / </a:t>
            </a: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并跑</a:t>
            </a: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 / </a:t>
            </a: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领跑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342900" y="1104900"/>
            <a:ext cx="3686175" cy="4457700"/>
          </a:xfrm>
          <a:prstGeom prst="roundRect">
            <a:avLst>
              <a:gd name="adj" fmla="val 310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32" name=""/>
          <p:cNvSpPr/>
          <p:nvPr/>
        </p:nvSpPr>
        <p:spPr>
          <a:xfrm rot="0" flipH="0" flipV="0">
            <a:off x="571500" y="1333500"/>
            <a:ext cx="1314450" cy="409575"/>
          </a:xfrm>
          <a:prstGeom prst="roundRect">
            <a:avLst>
              <a:gd name="adj" fmla="val 18605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704850" y="1409700"/>
            <a:ext cx="1047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跟跑（弱）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571500" y="1857375"/>
            <a:ext cx="3228975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代码包已写好。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cp env.example .env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填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key → python -m manhua_studio --input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照片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.jpg →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出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deliverables/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学号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/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571500" y="2933700"/>
            <a:ext cx="322897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达标线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=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最低档（靠写好的代码包）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571500" y="3343275"/>
            <a:ext cx="322897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重在跑通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读懂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一张照片变一整套商品图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4257675" y="1104900"/>
            <a:ext cx="3676650" cy="4457700"/>
          </a:xfrm>
          <a:prstGeom prst="roundRect">
            <a:avLst>
              <a:gd name="adj" fmla="val 310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38" name=""/>
          <p:cNvSpPr/>
          <p:nvPr/>
        </p:nvSpPr>
        <p:spPr>
          <a:xfrm rot="0" flipH="0" flipV="0">
            <a:off x="4486275" y="1333500"/>
            <a:ext cx="1314450" cy="409575"/>
          </a:xfrm>
          <a:prstGeom prst="roundRect">
            <a:avLst>
              <a:gd name="adj" fmla="val 18605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4619625" y="1409700"/>
            <a:ext cx="1047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并跑（中）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4486275" y="1857375"/>
            <a:ext cx="321945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填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prompts.py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模板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+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调参数，改出图风格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/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场景。路径与参数已预设。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4486275" y="2609850"/>
            <a:ext cx="321945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期望档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=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自己改模板产出不同素材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4486275" y="3019425"/>
            <a:ext cx="321945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理解提示词如何驱动结果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8162925" y="1104900"/>
            <a:ext cx="3686175" cy="4457700"/>
          </a:xfrm>
          <a:prstGeom prst="roundRect">
            <a:avLst>
              <a:gd name="adj" fmla="val 310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44" name=""/>
          <p:cNvSpPr/>
          <p:nvPr/>
        </p:nvSpPr>
        <p:spPr>
          <a:xfrm rot="0" flipH="0" flipV="0">
            <a:off x="8391525" y="1333500"/>
            <a:ext cx="1314450" cy="409575"/>
          </a:xfrm>
          <a:prstGeom prst="roundRect">
            <a:avLst>
              <a:gd name="adj" fmla="val 18605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8524875" y="1409700"/>
            <a:ext cx="1047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领跑（强）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8391525" y="1857375"/>
            <a:ext cx="3228975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指到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adapters.py / pipeline.py +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故障练习卡，自己写代码、排错、加构件。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8391525" y="2609850"/>
            <a:ext cx="322897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挑战档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=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修故障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扩展管线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8391525" y="3019425"/>
            <a:ext cx="322897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三档都写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/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读代码，只是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AI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扶持度不同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0" y="5905500"/>
            <a:ext cx="12192000" cy="6096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342900" y="6105525"/>
            <a:ext cx="6400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阶梯钩子：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一键包是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入口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不是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差生标签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"——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能力强的自然想往上爬到并跑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/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领跑。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11277600" y="66103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09 / 12</a:t>
            </a:r>
            <a:endParaRPr/>
          </a:p>
        </p:txBody>
      </p:sp>
    </p:spTree>
  </p:cSld>
</p:sld>
</file>

<file path=ppt/slides/slide10.xml><?xml version="1.0" encoding="utf-8"?>
<p:sld xmlns:a16="http://schemas.microsoft.com/office/drawing/2014/main" xmlns:a="http://schemas.openxmlformats.org/drawingml/2006/main" xmlns:p="http://schemas.openxmlformats.org/presentationml/2006/main" xmlns:mc="http://schemas.openxmlformats.org/markup-compatibility/2006" mc:Ignorable="a16">
  <p:cSld>
    <p:spTree>
      <p:nvGrpSpPr>
        <p:cNvPr id="13" name="" descr="&lt;Slide style={{ width: '1280px', height: '720px', padding: 0, background: '#FFFFFF', display: 'flex', flexDirection: 'column' }}&gt;&#10;  &lt;Box style={{ background: '#0E3F8C', height: 80, display: 'flex', alignItems: 'center', paddingLeft: 48 }}&gt;&#10;    &lt;Text style={{ color: '#FFFFFF', fontSize: 26, fontWeight: 'bold' }}&gt;验收三档汇总（V1–V5）&lt;/Text&gt;&#10;  &lt;/Box&gt;&#10;  &lt;Box style={{ flex: 1, display: 'flex', flexDirection: 'column', padding: 30, gap: 14 }}&gt;&#10;    &lt;Table&#10;      style={{ width: '100%', height: '100%' }}&#10;      defaultTextStyle={{ fontSize: 17, textAlign: 'left', color: '#1A2230', lineHeight: 1.4 }}&#10;      defaultCellStyle={{ border: { left: { width: 1, color: '#D6DCE5' }, right: { width: 1, color: '#D6DCE5' }, top: { width: 1, color: '#D6DCE5' }, bottom: { width: 1, color: '#D6DCE5' } } }}&#10;      cells={[&#10;        [&#10;          { text: '版本', textStyle: { bold: true, color: '#fff', fontSize: 18 }, cellStyle: { background: { color: '#0E3F8C' } } },&#10;          { text: '最低（达标·一键包可达）', textStyle: { bold: true, color: '#fff', fontSize: 18 }, cellStyle: { background: { color: '#0E3F8C' } } },&#10;          { text: '期望（半成品可达）', textStyle: { bold: true, color: '#fff', fontSize: 18 }, cellStyle: { background: { color: '#0E3F8C' } } },&#10;          { text: '挑战（裸引擎可达）', textStyle: { bold: true, color: '#fff', fontSize: 18 }, cellStyle: { background: { color: '#0E3F8C' } } },&#10;        ],&#10;        ['V1 去底白图', '一键包跑出白底图并截图归档', '自己配 UAPI_KEY、跑命令出图', '读懂 cli 参数、改输出文件名'],&#10;        ['V2 场景图', '一键包出 2 张场景图', '自己写/调场景 prompts 模板', '在 generate 加一个自定义场景'],&#10;        ['V3 商品页', '一键包出商品页', '自己把商品名/卖点填进数据', '改页面样式或加一个数据字段'],&#10;        ['V4 识别闭环', '一键包跑通全自动', '看 S0 输出、判断识别质量', '微调识别 prompt 提升准确性'],&#10;        ['V5 工程化', '跑通并交反思单', '能描述一次自己遇到的报错', '修一个故障 / 加一个构件'],&#10;      ]}&#10;    /&gt;&#10;    &lt;Box style={{ background: '#E8EFF8', borderRadius: 10, padding: 16 }}&gt;&#10;      &lt;Text style={{ fontSize: 19, color: '#1A2230', lineHeight: 1.5 }}&gt;&#10;        &lt;span style={{ fontWeight: 'bold', color: '#1E4FA8' }}&gt;期末硬线：&lt;/span&gt;所有人至少达到&quot;期望档&quot;（中走法），挑战档加分；弱生达标线＝最低档（靠写好的代码包），强生冲挑战档。&#10;      &lt;/Text&gt;&#10;    &lt;/Box&gt;&#10;  &lt;/Box&gt;&#10;  &lt;Box style={{ height: 36, display: 'flex', alignItems: 'center', justifyContent: 'flex-end', padding: '0 48px' }}&gt;&#10;    &lt;Text style={{ fontSize: 14, color: '#8B97A8' }}&gt;10 / 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457200" y="228600"/>
            <a:ext cx="27813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验收三档汇总（</a:t>
            </a: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V1–V5</a:t>
            </a: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graphicFrame>
        <p:nvGraphicFramePr>
          <p:cNvPr id="17" name=""/>
          <p:cNvGraphicFramePr/>
          <p:nvPr/>
        </p:nvGraphicFramePr>
        <p:xfrm rot="0" flipH="0" flipV="0">
          <a:off x="285750" y="1047750"/>
          <a:ext cx="11620500" cy="4410075"/>
        </p:xfrm>
        <a:graphic>
          <a:graphicData uri="http://schemas.openxmlformats.org/drawingml/2006/table">
            <a:tbl>
              <a:tblGrid>
                <a:gridCol w="1470843">
                  <a:extLst>
                    <a:ext uri="{9D8B030D-6E8A-4147-A177-3AD203B41FA5}">
                      <a16:colId val="1"/>
                    </a:ext>
                  </a:extLst>
                </a:gridCol>
                <a:gridCol w="3242603">
                  <a:extLst>
                    <a:ext uri="{9D8B030D-6E8A-4147-A177-3AD203B41FA5}">
                      <a16:colId val="2"/>
                    </a:ext>
                  </a:extLst>
                </a:gridCol>
                <a:gridCol w="3453527">
                  <a:extLst>
                    <a:ext uri="{9D8B030D-6E8A-4147-A177-3AD203B41FA5}">
                      <a16:colId val="3"/>
                    </a:ext>
                  </a:extLst>
                </a:gridCol>
                <a:gridCol w="3453527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75263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版本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最低（达标·一键包可达）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期望（半成品可达）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挑战（裸引擎可达）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73148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V1 去底白图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一键包跑出白底图并截图归档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自己配 UAPI_KEY、跑命令出图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读懂 cli 参数、改输出文件名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73148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V2 场景图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一键包出 2 张场景图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自己写/调场景 prompts 模板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在 generate 加一个自定义场景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73148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V3 商品页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一键包出商品页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自己把商品名/卖点填进数据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改页面样式或加一个数据字段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73148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V4 识别闭环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一键包跑通全自动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看 S0 输出、判断识别质量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微调识别 prompt 提升准确性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731489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V5 工程化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跑通并交反思单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能描述一次自己遇到的报错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修一个故障 / 加一个构件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18" name=""/>
          <p:cNvSpPr/>
          <p:nvPr/>
        </p:nvSpPr>
        <p:spPr>
          <a:xfrm rot="0" flipH="0" flipV="0">
            <a:off x="285750" y="5591175"/>
            <a:ext cx="11620500" cy="638175"/>
          </a:xfrm>
          <a:prstGeom prst="roundRect">
            <a:avLst>
              <a:gd name="adj" fmla="val 14925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438150" y="5743575"/>
            <a:ext cx="113157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 b="1">
                <a:solidFill>
                  <a:srgbClr val="1E4FA8"/>
                </a:solidFill>
                <a:latin typeface="Microsoft YaHei"/>
                <a:ea typeface="Microsoft YaHei"/>
              </a:rPr>
              <a:t>期末硬线：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所有人至少达到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期望档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（中走法），挑战档加分；弱生达标线＝最低档（靠写好的代码包），强生冲挑战档。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11277600" y="66103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10 / 12</a:t>
            </a:r>
            <a:endParaRPr/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21" name="" descr="&lt;Slide style={{ width: '1280px', height: '720px', padding: 0, background: '#FFFFFF', display: 'flex', flexDirection: 'column' }}&gt;&#10;  &lt;Box style={{ background: '#0E3F8C', height: 80, display: 'flex', alignItems: 'center', paddingLeft: 48 }}&gt;&#10;    &lt;Text style={{ color: '#FFFFFF', fontSize: 26, fontWeight: 'bold' }}&gt;防&quot;躺平&quot;策略与反思单&lt;/Text&gt;&#10;  &lt;/Box&gt;&#10;  &lt;Box style={{ flex: 1, display: 'flex', flexDirection: 'row' }}&gt;&#10;    &lt;Box style={{ width: 320, background: '#F0F5FC', display: 'flex', flexDirection: 'column', justifyContent: 'center', padding: 48 }}&gt;&#10;      &lt;Text style={{ fontSize: 40, fontWeight: 'bold', color: '#0E3F8C' }}&gt;防躺平&lt;/Text&gt;&#10;      &lt;Text style={{ fontSize: 18, color: '#4A5568', marginTop: 8 }}&gt;低成本区分三档&lt;/Text&gt;&#10;    &lt;/Box&gt;&#10;    &lt;Box style={{ flex: 1, display: 'flex', flexDirection: 'column', justifyContent: 'center', padding: '0 48px', gap: 12 }}&gt;&#10;      &lt;Box style={{ background: '#F7F9FC', border: '1px solid #D6DCE5', borderRadius: 10, padding: 14, display: 'flex', flexDirection: 'column', gap: 4 }}&gt;&#10;        &lt;Text style={{ fontSize: 20, fontWeight: 'bold', color: '#0E3F8C' }}&gt;① 阶梯钩子&lt;/Text&gt;&#10;        &lt;Text style={{ fontSize: 17, color: '#1A2230', lineHeight: 1.45 }}&gt;弱走法产出可见地不完整（V1 只白底图，V3 才有完整页），能力强的自然想往上爬。&lt;/Text&gt;&#10;      &lt;/Box&gt;&#10;      &lt;Box style={{ background: '#F7F9FC', border: '1px solid #D6DCE5', borderRadius: 10, padding: 14, display: 'flex', flexDirection: 'column', gap: 4 }}&gt;&#10;        &lt;Text style={{ fontSize: 20, fontWeight: 'bold', color: '#0E3F8C' }}&gt;② 期末硬线&lt;/Text&gt;&#10;        &lt;Text style={{ fontSize: 17, color: '#1A2230', lineHeight: 1.45 }}&gt;所有人至少达期望档，挑战档加分；与验收三档挂钩。&lt;/Text&gt;&#10;      &lt;/Box&gt;&#10;      &lt;Box style={{ background: '#F7F9FC', border: '1px solid #D6DCE5', borderRadius: 10, padding: 14, display: 'flex', flexDirection: 'column', gap: 4 }}&gt;&#10;        &lt;Text style={{ fontSize: 20, fontWeight: 'bold', color: '#0E3F8C' }}&gt;③ 低成本区分&lt;/Text&gt;&#10;        &lt;Text style={{ fontSize: 17, color: '#1A2230', lineHeight: 1.45 }}&gt;反思单 + 口头 2 分钟，不靠监考；靠文字区分三档，比建三套体系轻得多。&lt;/Text&gt;&#10;      &lt;/Box&gt;&#10;      &lt;Box style={{ background: '#F0F5FC', border: '1px solid #1E4FA8', borderRadius: 10, padding: 14, display: 'flex', flexDirection: 'column', gap: 4 }}&gt;&#10;        &lt;Text style={{ fontSize: 20, fontWeight: 'bold', color: '#0E3F8C' }}&gt;④ 去污名化 + 反思单三句话&lt;/Text&gt;&#10;        &lt;Text style={{ fontSize: 17, color: '#4A5568', lineHeight: 1.45 }}&gt;所有人从 V1 跟跑起步，一键包是入口不是差生标签。反思单：①我做了什么 ②我卡在哪/怎么过的 ③下次想改哪&lt;/Text&gt;&#10;      &lt;/Box&gt;&#10;    &lt;/Box&gt;&#10;  &lt;/Box&gt;&#10;  &lt;Box style={{ height: 36, display: 'flex', alignItems: 'center', justifyContent: 'flex-end', padding: '0 48px' }}&gt;&#10;    &lt;Text style={{ fontSize: 14, color: '#8B97A8' }}&gt;11 / 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457200" y="228600"/>
            <a:ext cx="24955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防</a:t>
            </a: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躺平</a:t>
            </a: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策略与反思单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0" y="762000"/>
            <a:ext cx="3048000" cy="57531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457200" y="3267075"/>
            <a:ext cx="21336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0E3F8C"/>
                </a:solidFill>
                <a:latin typeface="Microsoft YaHei"/>
                <a:ea typeface="Microsoft YaHei"/>
              </a:rPr>
              <a:t>防躺平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457200" y="3800475"/>
            <a:ext cx="2133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低成本区分三档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3505200" y="1685925"/>
            <a:ext cx="8229600" cy="819150"/>
          </a:xfrm>
          <a:prstGeom prst="roundRect">
            <a:avLst>
              <a:gd name="adj" fmla="val 11628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3638550" y="1819275"/>
            <a:ext cx="7962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Microsoft YaHei"/>
                <a:ea typeface="Microsoft YaHei"/>
              </a:rPr>
              <a:t>① </a:t>
            </a: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阶梯钩子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3638550" y="2085975"/>
            <a:ext cx="79629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弱走法产出可见地不完整（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V1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只白底图，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V3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才有完整页），能力强的自然想往上爬。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3505200" y="2619375"/>
            <a:ext cx="8229600" cy="819150"/>
          </a:xfrm>
          <a:prstGeom prst="roundRect">
            <a:avLst>
              <a:gd name="adj" fmla="val 11628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3638550" y="2752725"/>
            <a:ext cx="7962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Microsoft YaHei"/>
                <a:ea typeface="Microsoft YaHei"/>
              </a:rPr>
              <a:t>② </a:t>
            </a: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期末硬线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3638550" y="3019425"/>
            <a:ext cx="79629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所有人至少达期望档，挑战档加分；与验收三档挂钩。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3505200" y="3552825"/>
            <a:ext cx="8229600" cy="819150"/>
          </a:xfrm>
          <a:prstGeom prst="roundRect">
            <a:avLst>
              <a:gd name="adj" fmla="val 11628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3638550" y="3686175"/>
            <a:ext cx="7962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Microsoft YaHei"/>
                <a:ea typeface="Microsoft YaHei"/>
              </a:rPr>
              <a:t>③ </a:t>
            </a: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低成本区分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3638550" y="3952875"/>
            <a:ext cx="7962900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反思单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 +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口头</a:t>
            </a:r>
            <a:r>
              <a:rPr lang="en-US" sz="1275">
                <a:solidFill>
                  <a:srgbClr val="1A2230"/>
                </a:solidFill>
                <a:latin typeface="Microsoft YaHei"/>
                <a:ea typeface="Microsoft YaHei"/>
              </a:rPr>
              <a:t> 2 </a:t>
            </a:r>
            <a:r>
              <a:rPr lang="zh-CN" sz="1275">
                <a:solidFill>
                  <a:srgbClr val="1A2230"/>
                </a:solidFill>
                <a:latin typeface="Microsoft YaHei"/>
                <a:ea typeface="Microsoft YaHei"/>
              </a:rPr>
              <a:t>分钟，不靠监考；靠文字区分三档，比建三套体系轻得多。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3505200" y="4486275"/>
            <a:ext cx="8229600" cy="1104900"/>
          </a:xfrm>
          <a:prstGeom prst="roundRect">
            <a:avLst>
              <a:gd name="adj" fmla="val 8621"/>
            </a:avLst>
          </a:prstGeom>
          <a:solidFill>
            <a:srgbClr val="F0F5FC"/>
          </a:solidFill>
          <a:ln w="127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3638550" y="4619625"/>
            <a:ext cx="7962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Microsoft YaHei"/>
                <a:ea typeface="Microsoft YaHei"/>
              </a:rPr>
              <a:t>④ </a:t>
            </a: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去污名化</a:t>
            </a:r>
            <a:r>
              <a:rPr lang="en-US" sz="1500" b="1">
                <a:solidFill>
                  <a:srgbClr val="0E3F8C"/>
                </a:solidFill>
                <a:latin typeface="Microsoft YaHei"/>
                <a:ea typeface="Microsoft YaHei"/>
              </a:rPr>
              <a:t> + </a:t>
            </a: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反思单三句话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3638550" y="4886325"/>
            <a:ext cx="79629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所有人从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V1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跟跑起步，一键包是入口不是差生标签。反思单：①我做了什么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②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我卡在哪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/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怎么过的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③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下次想改哪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11277600" y="66103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11 / 12</a:t>
            </a:r>
            <a:endParaRPr/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41" name="" descr="&lt;Slide style={{ width: '1280px', height: '720px', padding: 0, background: '#FFFFFF', display: 'flex', flexDirection: 'column' }}&gt;&#10;  &lt;Box style={{ flex: 1, display: 'flex', flexDirection: 'column', alignItems: 'center', justifyContent: 'center', padding: '0 80px', gap: 24 }}&gt;&#10;    &lt;Text style={{ fontSize: 52, fontWeight: 'bold', color: '#0E3F8C', textAlign: 'center' }}&gt;一份仓库，五版递进&lt;/Text&gt;&#10;    &lt;Text style={{ fontSize: 24, color: '#4A5568', textAlign: 'center', lineHeight: 1.6 }}&gt;&#10;      从 V1 白底图到 V5 生产级管线，每版都端到端可跑、是完整的。&lt;br /&gt;&#10;      学生 clone 后对照本图，清楚每阶段该完成什么、交付什么、如何验收。&#10;    &lt;/Text&gt;&#10;    &lt;Box style={{ background: '#F0F5FC', border: '1px solid #1E4FA8', borderRadius: 12, padding: 24, display: 'flex', flexDirection: 'column', gap: 12, width: 720 }}&gt;&#10;      &lt;Text style={{ fontSize: 20, color: '#1A2230' }}&gt;&lt;span style={{ fontWeight: 'bold', color: '#0E3F8C' }}&gt;运行：&lt;/span&gt;python -m manhua_studio --input 照片.jpg&lt;/Text&gt;&#10;      &lt;Text style={{ fontSize: 20, color: '#1A2230' }}&gt;&lt;span style={{ fontWeight: 'bold', color: '#0E3F8C' }}&gt;回看阶段：&lt;/span&gt;git checkout vN（v1–v5 任意一版）&lt;/Text&gt;&#10;    &lt;/Box&gt;&#10;  &lt;/Box&gt;&#10;  &lt;Box style={{ height: 64, display: 'flex', alignItems: 'center', justifyContent: 'center', borderTop: '1px solid #D6DCE5' }}&gt;&#10;    &lt;Text style={{ fontSize: 16, color: '#8B97A8' }}&gt;工艺美术类高职 · 计算机专业 · Python 课程改造 · 张老师 2026 秋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3867150" y="1638300"/>
            <a:ext cx="4457700" cy="6000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3900" b="1">
                <a:solidFill>
                  <a:srgbClr val="0E3F8C"/>
                </a:solidFill>
                <a:latin typeface="Microsoft YaHei"/>
                <a:ea typeface="Microsoft YaHei"/>
              </a:rPr>
              <a:t>一份仓库，五版递进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2419350" y="2466975"/>
            <a:ext cx="7362825" cy="885825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1800">
                <a:solidFill>
                  <a:srgbClr val="4A5568"/>
                </a:solidFill>
                <a:latin typeface="Microsoft YaHei"/>
                <a:ea typeface="Microsoft YaHei"/>
              </a:rPr>
              <a:t>从</a:t>
            </a:r>
            <a:r>
              <a:rPr lang="en-US" sz="1800">
                <a:solidFill>
                  <a:srgbClr val="4A5568"/>
                </a:solidFill>
                <a:latin typeface="Microsoft YaHei"/>
                <a:ea typeface="Microsoft YaHei"/>
              </a:rPr>
              <a:t> V1 </a:t>
            </a:r>
            <a:r>
              <a:rPr lang="zh-CN" sz="1800">
                <a:solidFill>
                  <a:srgbClr val="4A5568"/>
                </a:solidFill>
                <a:latin typeface="Microsoft YaHei"/>
                <a:ea typeface="Microsoft YaHei"/>
              </a:rPr>
              <a:t>白底图到</a:t>
            </a:r>
            <a:r>
              <a:rPr lang="en-US" sz="1800">
                <a:solidFill>
                  <a:srgbClr val="4A5568"/>
                </a:solidFill>
                <a:latin typeface="Microsoft YaHei"/>
                <a:ea typeface="Microsoft YaHei"/>
              </a:rPr>
              <a:t> V5 </a:t>
            </a:r>
            <a:r>
              <a:rPr lang="zh-CN" sz="1800">
                <a:solidFill>
                  <a:srgbClr val="4A5568"/>
                </a:solidFill>
                <a:latin typeface="Microsoft YaHei"/>
                <a:ea typeface="Microsoft YaHei"/>
              </a:rPr>
              <a:t>生产级管线，每版都端到端可跑、是完整的。</a:t>
            </a:r>
            <a:endParaRPr/>
          </a:p>
          <a:p>
            <a:pPr algn="ctr">
              <a:lnSpc>
                <a:spcPct val="160000"/>
              </a:lnSpc>
            </a:pPr>
            <a:r>
              <a:rPr lang="zh-CN" sz="1800">
                <a:solidFill>
                  <a:srgbClr val="4A5568"/>
                </a:solidFill>
                <a:latin typeface="Microsoft YaHei"/>
                <a:ea typeface="Microsoft YaHei"/>
              </a:rPr>
              <a:t>学生</a:t>
            </a:r>
            <a:r>
              <a:rPr lang="en-US" sz="1800">
                <a:solidFill>
                  <a:srgbClr val="4A5568"/>
                </a:solidFill>
                <a:latin typeface="Microsoft YaHei"/>
                <a:ea typeface="Microsoft YaHei"/>
              </a:rPr>
              <a:t> clone </a:t>
            </a:r>
            <a:r>
              <a:rPr lang="zh-CN" sz="1800">
                <a:solidFill>
                  <a:srgbClr val="4A5568"/>
                </a:solidFill>
                <a:latin typeface="Microsoft YaHei"/>
                <a:ea typeface="Microsoft YaHei"/>
              </a:rPr>
              <a:t>后对照本图，清楚每阶段该完成什么、交付什么、如何验收。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2667000" y="3581400"/>
            <a:ext cx="6858000" cy="1028700"/>
          </a:xfrm>
          <a:prstGeom prst="roundRect">
            <a:avLst>
              <a:gd name="adj" fmla="val 11111"/>
            </a:avLst>
          </a:prstGeom>
          <a:solidFill>
            <a:srgbClr val="F0F5FC"/>
          </a:solidFill>
          <a:ln w="127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2895600" y="3810000"/>
            <a:ext cx="6400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运行：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python -m manhua_studio --input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照片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.jpg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2895600" y="4152900"/>
            <a:ext cx="6400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回看阶段：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git checkout vN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（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v1–v5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任意一版）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0" y="6248400"/>
            <a:ext cx="12192000" cy="609600"/>
          </a:xfrm>
          <a:custGeom>
            <a:pathLst>
              <a:path w="1280" h="64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3876675" y="6467475"/>
            <a:ext cx="4438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工艺美术类高职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计算机专业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· Python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课程改造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张老师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2026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秋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2026-09-29T17:43:38Z</dcterms:created>
  <dcterms:modified xsi:type="dcterms:W3CDTF">2026-09-29T17:43:38Z</dcterms:modified>
</cp:coreProperties>
</file>