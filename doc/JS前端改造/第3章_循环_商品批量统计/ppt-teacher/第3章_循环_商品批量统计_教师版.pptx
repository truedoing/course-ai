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7" Type="http://schemas.openxmlformats.org/officeDocument/2006/relationships/slide" Target="slides/slide7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11" Type="http://schemas.openxmlformats.org/officeDocument/2006/relationships/tableStyles" Target="tableStyles.xml" /><Relationship Id="rId9" Type="http://schemas.openxmlformats.org/officeDocument/2006/relationships/notesMaster" Target="notesMasters/notesMaster1.xml" /><Relationship Id="rId12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 style={{ width: '1280px', height: '720px', background: '#FFFFFF', padding: 0 }}&gt;&#10;  &lt;Box style={{ height: 88, background: '#0E3F8C', width: '100%', flexDirection: 'row', alignItems: 'center', paddingLeft: 40 }}&gt;&#10;    &lt;Text style={{ color: '#FFFFFF', fontSize: 22, fontWeight: 'bold' }}&gt;JS 前端课程 · AI 原生改造 · 项目三切片&lt;/Text&gt;&#10;  &lt;/Box&gt;&#10;  &lt;Box style={{ padding: 70, flex: 1, justifyContent: 'center' }}&gt;&#10;    &lt;Text style={{ fontSize: 60, fontWeight: 'bold', color: '#0E3F8C' }}&gt;第3章 循环 · 商品批量统计&lt;/Text&gt;&#10;    &lt;Text style={{ fontSize: 24, color: '#4A5568', marginTop: 18 }}&gt;Loop &amp;amp; Array → aggregate(products)：给「某某小店」加上统计条&lt;/Text&gt;&#10;    &lt;Box style={{ marginTop: 44, padding: 22, background: '#F0F5FC', borderRadius: 8, alignSelf: 'flex-start' }}&gt;&#10;      &lt;Text style={{ fontSize: 20, color: '#1A2230' }}&gt;教师版（含教学设计）｜ 高职计算机专业 · JavaScript 前端开发&lt;/Text&gt;&#10;    &lt;/Box&gt;&#10;  &lt;/Box&gt;&#10;  &lt;Box style={{ position: 'absolute', bottom: 36, left: 70, right: 70, flexDirection: 'row', justifyContent: 'space-between' }}&gt;&#10;    &lt;Text style={{ fontSize: 16, color: '#8B97A8' }}&gt;课程主线：FDE · 商品展示统一母体&lt;/Text&gt;&#10;    &lt;Text style={{ fontSize: 16, color: '#8B97A8' }}&gt;2026 秋学期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381000" y="295275"/>
            <a:ext cx="37433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JS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前端课程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· AI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原生改造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项目三切片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66750" y="2752725"/>
            <a:ext cx="108585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第</a:t>
            </a:r>
            <a:r>
              <a:rPr lang="en-US" sz="4500" b="1">
                <a:solidFill>
                  <a:srgbClr val="0E3F8C"/>
                </a:solidFill>
                <a:latin typeface="Microsoft YaHei"/>
                <a:ea typeface="Microsoft YaHei"/>
              </a:rPr>
              <a:t>3</a:t>
            </a: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章</a:t>
            </a:r>
            <a:r>
              <a:rPr lang="en-US" sz="4500" b="1">
                <a:solidFill>
                  <a:srgbClr val="0E3F8C"/>
                </a:solidFill>
                <a:latin typeface="Microsoft YaHei"/>
                <a:ea typeface="Microsoft YaHei"/>
              </a:rPr>
              <a:t> </a:t>
            </a: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循环</a:t>
            </a:r>
            <a:r>
              <a:rPr lang="en-US" sz="450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商品批量统计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66750" y="3609975"/>
            <a:ext cx="10858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Loop &amp; Array → aggregate(products)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：给「某某小店」加上统计条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66750" y="4305300"/>
            <a:ext cx="5791200" cy="647700"/>
          </a:xfrm>
          <a:prstGeom prst="roundRect">
            <a:avLst>
              <a:gd name="adj" fmla="val 1176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76300" y="4514850"/>
            <a:ext cx="5372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教师版（含教学设计）｜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高职计算机专业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JavaScript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前端开发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66750" y="6324600"/>
            <a:ext cx="2390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课程主线：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FDE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商品展示统一母体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0658475" y="6324600"/>
            <a:ext cx="866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2026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秋学期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1" name="" descr="&lt;Slide style={{ width: '1280px', height: '720px', background: '#FFFFFF', padding: 0 }}&gt;&#10;  &lt;Box style={{ height: 88, background: '#0E3F8C', width: '100%', flexDirection: 'row', alignItems: 'center', paddingLeft: 40, justifyContent: 'space-between' }}&gt;&#10;    &lt;Text style={{ color: '#FFFFFF', fontSize: 24, fontWeight: 'bold' }}&gt;教学目标与重难点&lt;/Text&gt;&#10;    &lt;Text style={{ color: '#FFFFFF', fontSize: 16, opacity: 0.8 }}&gt;JS 前端 · 项目三&lt;/Text&gt;&#10;  &lt;/Box&gt;&#10;  &lt;Box style={{ flexDirection: 'row', flex: 1 }}&gt;&#10;    &lt;Box style={{ width: 360, background: '#F0F5FC', padding: 32, justifyContent: 'center' }}&gt;&#10;      &lt;Text style={{ fontSize: 30, fontWeight: 'bold', color: '#0E3F8C' }}&gt;本章让学生带走的三件事&lt;/Text&gt;&#10;      &lt;Text style={{ fontSize: 18, color: '#4A5568', marginTop: 18, lineHeight: 1.6 }}&gt;知识 → 能力 → 素养，三线合一；函数名全程不变，期末直接复用。&lt;/Text&gt;&#10;    &lt;/Box&gt;&#10;    &lt;Box style={{ flex: 1, padding: 32, gap: 22 }}&gt;&#10;      &lt;Box style={{ background: '#FFFFFF', border: '1px solid #D6DCE5', borderRadius: 8, padding: 22 }}&gt;&#10;        &lt;Text style={{ fontSize: 24, fontWeight: 'bold', color: '#1E4FA8' }}&gt;教学目标&lt;/Text&gt;&#10;        &lt;Text style={{ fontSize: 22, color: '#1A2230', lineHeight: 1.7, marginTop: 10 }}&gt;&#10;          ① 循环遍历数组：for / for...of / while 三种写法，结果等价。&lt;br /&gt;&#10;          ② 累加器与分组统计：sum / count；用对象当计数桶数分类。&lt;br /&gt;&#10;          ③ 写出 aggregate(products)，算出种类 / 库存 / 分类 / 最贵最便宜 / 均价。&#10;        &lt;/Text&gt;&#10;      &lt;/Box&gt;&#10;      &lt;Box style={{ background: '#FFFFFF', border: '1px solid #D6DCE5', borderRadius: 8, padding: 22 }}&gt;&#10;        &lt;Text style={{ fontSize: 24, fontWeight: 'bold', color: '#1E4FA8' }}&gt;重难点&lt;/Text&gt;&#10;        &lt;Text style={{ fontSize: 22, color: '#1A2230', lineHeight: 1.7, marginTop: 10 }}&gt;&#10;          重点：循环 + 累加器；分组统计（对象当桶）。&lt;br /&gt;&#10;          难点：桶不存在先给 0（cats[c] || 0）；极值初值用 ±Infinity。&lt;br /&gt;&#10;          易错：while 忘自增→死循环；stock 与 price 混淆。&#10;        &lt;/Text&gt;&#10;      &lt;/Box&gt;&#10;    &lt;/Box&gt;&#10;  &lt;/Box&gt;&#10;  &lt;Box style={{ height: 40, paddingLeft: 40, paddingRight: 40, flexDirection: 'row', justifyContent: 'space-between', alignItems: 'center' }}&gt;&#10;    &lt;Text style={{ fontSize: 14, color: '#8B97A8' }}&gt;JS 前端 · 项目三 · 循环与商品批量统计&lt;/Text&gt;&#10;    &lt;Text style={{ fontSize: 14, color: '#0E3F8C' }}&gt;02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381000" y="285750"/>
            <a:ext cx="1828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教学目标与重难点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0" y="838200"/>
            <a:ext cx="3429000" cy="56388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04800" y="2895600"/>
            <a:ext cx="28194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E3F8C"/>
                </a:solidFill>
                <a:latin typeface="Microsoft YaHei"/>
                <a:ea typeface="Microsoft YaHei"/>
              </a:rPr>
              <a:t>本章让学生带走的三件事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304800" y="3752850"/>
            <a:ext cx="28194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知识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能力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素养，三线合一；函数名全程不变，期末直接复用。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3733800" y="1143000"/>
            <a:ext cx="8153400" cy="207645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3943350" y="1352550"/>
            <a:ext cx="773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教学目标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943350" y="1724025"/>
            <a:ext cx="7734300" cy="12858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①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循环遍历数组：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for / for...of / while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三种写法，结果等价。</a:t>
            </a:r>
            <a:endParaRPr/>
          </a:p>
          <a:p>
            <a:pPr>
              <a:lnSpc>
                <a:spcPct val="17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②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累加器与分组统计：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sum / count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；用对象当计数桶数分类。</a:t>
            </a:r>
            <a:endParaRPr/>
          </a:p>
          <a:p>
            <a:pPr>
              <a:lnSpc>
                <a:spcPct val="17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③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写出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aggregate(products)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，算出种类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库存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分类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最贵最便宜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均价。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3733800" y="3429000"/>
            <a:ext cx="8153400" cy="207645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3943350" y="3638550"/>
            <a:ext cx="773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重难点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3943350" y="4010025"/>
            <a:ext cx="7734300" cy="12858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重点：循环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累加器；分组统计（对象当桶）。</a:t>
            </a:r>
            <a:endParaRPr/>
          </a:p>
          <a:p>
            <a:pPr>
              <a:lnSpc>
                <a:spcPct val="17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难点：桶不存在先给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0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cats[c] || 0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）；极值初值用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±Infinity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7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易错：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while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忘自增→死循环；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stock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与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price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混淆。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JS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前端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项目三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循环与商品批量统计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02 / 08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1106150" y="323850"/>
            <a:ext cx="1085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JS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前端</a:t>
            </a: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项目三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27" name="" descr="&lt;Slide style={{ width: '1280px', height: '720px', background: '#FFFFFF', padding: 0 }}&gt;&#10;  &lt;Box style={{ height: 88, background: '#0E3F8C', width: '100%', flexDirection: 'row', alignItems: 'center', paddingLeft: 40, justifyContent: 'space-between' }}&gt;&#10;    &lt;Text style={{ color: '#FFFFFF', fontSize: 24, fontWeight: 'bold' }}&gt;课堂时间现实：先保 git 闭环&lt;/Text&gt;&#10;    &lt;Text style={{ color: '#FFFFFF', fontSize: 16, opacity: 0.8 }}&gt;JS 前端 · 项目三&lt;/Text&gt;&#10;  &lt;/Box&gt;&#10;  &lt;Box style={{ flexDirection: 'row', flex: 1, padding: 32, gap: 28 }}&gt;&#10;    &lt;Box style={{ flex: 1, background: '#FFFFFF', border: '1px solid #D6DCE5', borderRadius: 8, padding: 26 }}&gt;&#10;      &lt;Box style={{ background: '#D9534F', borderRadius: 6, padding: '6px 14px', alignSelf: 'flex-start' }}&gt;&#10;        &lt;Text style={{ color: '#FFFFFF', fontSize: 18, fontWeight: 'bold' }}&gt;来自 Python 课实测&lt;/Text&gt;&#10;      &lt;/Box&gt;&#10;      &lt;Text style={{ fontSize: 22, color: '#1A2230', lineHeight: 1.7, marginTop: 16 }}&gt;&#10;        装 git / 注册 / fork / clone 全流程顺完，已耗费大量课堂时间。&lt;br /&gt;&lt;br /&gt;&#10;        本章正课内容只能「先看一下」，&lt;span style={{ fontWeight: 'bold', color: '#D9534F' }}&gt;细讲顺延下节课&lt;/span&gt;。&lt;br /&gt;&lt;br /&gt;&#10;        本堂课优先级：① 完成 git 闭环 ② 看懂 aggregate 雏形并跑通自检。&#10;      &lt;/Text&gt;&#10;    &lt;/Box&gt;&#10;    &lt;Box style={{ flex: 1, background: '#F0F5FC', borderRadius: 8, padding: 26 }}&gt;&#10;      &lt;Text style={{ fontSize: 24, fontWeight: 'bold', color: '#0E3F8C' }}&gt;本节课对策&lt;/Text&gt;&#10;      &lt;Text style={{ fontSize: 22, color: '#1A2230', lineHeight: 1.8, marginTop: 14 }}&gt;&#10;        1. 学生版材料做成&lt;span style={{ fontWeight: 'bold' }}&gt;可独立自学&lt;/span&gt;：任务 / 参考代码 / 自检清单齐全。&lt;br /&gt;&#10;        2. 课堂只做引导 + 演示，不硬塞完整练习。&lt;br /&gt;&#10;        3. 验收放宽为「跑通自检 + 看懂」即合格。&lt;br /&gt;&#10;        4. 下节课用 25 分钟把难点、变式讲透并收操作手册。&#10;      &lt;/Text&gt;&#10;    &lt;/Box&gt;&#10;  &lt;/Box&gt;&#10;  &lt;Box style={{ height: 40, paddingLeft: 40, paddingRight: 40, flexDirection: 'row', justifyContent: 'space-between', alignItems: 'center' }}&gt;&#10;    &lt;Text style={{ fontSize: 14, color: '#8B97A8' }}&gt;JS 前端 · 项目三 · 循环与商品批量统计&lt;/Text&gt;&#10;    &lt;Text style={{ fontSize: 14, color: '#0E3F8C' }}&gt;03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381000" y="285750"/>
            <a:ext cx="2971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课堂时间现实：先保</a:t>
            </a: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 git 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闭环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304800" y="1143000"/>
            <a:ext cx="5657850" cy="502920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552450" y="1390650"/>
            <a:ext cx="1847850" cy="323850"/>
          </a:xfrm>
          <a:prstGeom prst="roundRect">
            <a:avLst>
              <a:gd name="adj" fmla="val 17647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85800" y="1447800"/>
            <a:ext cx="1581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来自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 Python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课实测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52450" y="1866900"/>
            <a:ext cx="5162550" cy="3000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装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git /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注册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/ fork / clone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全流程顺完，已耗费大量课堂时间。</a:t>
            </a:r>
            <a:endParaRPr/>
          </a:p>
          <a:p>
            <a:pPr>
              <a:lnSpc>
                <a:spcPct val="170000"/>
              </a:lnSpc>
            </a:pPr>
            <a:r>
              <a:rPr sz="16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7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本章正课内容只能「先看一下」，</a:t>
            </a: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细讲顺延下节课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70000"/>
              </a:lnSpc>
            </a:pPr>
            <a:r>
              <a:rPr sz="16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7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本堂课优先级：①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完成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git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闭环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②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看懂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aggregate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雏形并跑通自检。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6229350" y="1143000"/>
            <a:ext cx="5657850" cy="5029200"/>
          </a:xfrm>
          <a:prstGeom prst="roundRect">
            <a:avLst>
              <a:gd name="adj" fmla="val 151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477000" y="1390650"/>
            <a:ext cx="5162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本节课对策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477000" y="1800225"/>
            <a:ext cx="5162550" cy="2266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1.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学生版材料做成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可独立自学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：任务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参考代码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自检清单齐全。</a:t>
            </a:r>
            <a:endParaRPr/>
          </a:p>
          <a:p>
            <a:pPr>
              <a:lnSpc>
                <a:spcPct val="18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2.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课堂只做引导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演示，不硬塞完整练习。</a:t>
            </a:r>
            <a:endParaRPr/>
          </a:p>
          <a:p>
            <a:pPr>
              <a:lnSpc>
                <a:spcPct val="18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3.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验收放宽为「跑通自检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看懂」即合格。</a:t>
            </a:r>
            <a:endParaRPr/>
          </a:p>
          <a:p>
            <a:pPr>
              <a:lnSpc>
                <a:spcPct val="18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4.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下节课用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25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分钟把难点、变式讲透并收操作手册。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JS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前端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项目三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循环与商品批量统计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03 / 08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1106150" y="323850"/>
            <a:ext cx="1085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JS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前端</a:t>
            </a: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项目三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41" name="" descr="&lt;Slide style={{ width: '1280px', height: '720px', background: '#FFFFFF', padding: 0 }}&gt;&#10;  &lt;Box style={{ height: 88, background: '#0E3F8C', width: '100%', flexDirection: 'row', alignItems: 'center', paddingLeft: 40, justifyContent: 'space-between' }}&gt;&#10;    &lt;Text style={{ color: '#FFFFFF', fontSize: 24, fontWeight: 'bold' }}&gt;三种循环遍历数组（结果等价）&lt;/Text&gt;&#10;    &lt;Text style={{ color: '#FFFFFF', fontSize: 16, opacity: 0.8 }}&gt;JS 前端 · 项目三&lt;/Text&gt;&#10;  &lt;/Box&gt;&#10;  &lt;Box style={{ flexDirection: 'row', flex: 1, padding: 32, gap: 28 }}&gt;&#10;    &lt;Box style={{ width: 640, background: '#0F172A', borderRadius: 8, padding: 18 }}&gt;&#10;      &lt;CodeBlock&#10;        code={`// 示例商品：A001库存12, A002库存8, A003库存5&#10;// 三种循环都算出 库存总量 = 25&#10;&#10;// 1) for 循环（带索引，最通用）&#10;let s1 = 0;&#10;for (let i = 0; i &lt; products.length; i++) {&#10;  s1 += products[i].stock;&#10;}&#10;&#10;// 2) for...of（直接拿元素，最清爽）&#10;let s2 = 0;&#10;for (const p of products) { s2 += p.stock; }&#10;&#10;// 3) while（满足条件才继续）&#10;let s3 = 0, idx = 0;&#10;while (idx &lt; products.length) {&#10;  s3 += products[idx].stock; idx++;&#10;}`}&#10;        language='javascript'&#10;        width={604}&#10;        fontSize={14}&#10;      /&gt;&#10;    &lt;/Box&gt;&#10;    &lt;Box style={{ flex: 1, gap: 18 }}&gt;&#10;      &lt;Text style={{ fontSize: 24, fontWeight: 'bold', color: '#0E3F8C' }}&gt;为什么都要讲&lt;/Text&gt;&#10;      &lt;Text style={{ fontSize: 22, color: '#1A2230', lineHeight: 1.7 }}&gt;&#10;        • &lt;span style={{ fontWeight: 'bold' }}&gt;for&lt;/span&gt;：带索引，改第 i 个、跳过某条最方便。&lt;br /&gt;&#10;        • &lt;span style={{ fontWeight: 'bold' }}&gt;for...of&lt;/span&gt;：只拿元素，写起来最省心，本作业首选。&lt;br /&gt;&#10;        • &lt;span style={{ fontWeight: 'bold' }}&gt;while&lt;/span&gt;：条件驱动，但&lt;span style={{ color: '#D9534F', fontWeight: 'bold' }}&gt;忘自增会死循环&lt;/span&gt;。&#10;      &lt;/Text&gt;&#10;      &lt;Box style={{ background: '#F0F5FC', borderRadius: 8, padding: 16, marginTop: 8 }}&gt;&#10;        &lt;Text style={{ fontSize: 20, color: '#1A2230', lineHeight: 1.6 }}&gt;&#10;          板书三版 → 让学生看到「写法不同、结果一样」，破除对循环的畏难。&#10;        &lt;/Text&gt;&#10;      &lt;/Box&gt;&#10;    &lt;/Box&gt;&#10;  &lt;/Box&gt;&#10;  &lt;Box style={{ height: 40, paddingLeft: 40, paddingRight: 40, flexDirection: 'row', justifyContent: 'space-between', alignItems: 'center' }}&gt;&#10;    &lt;Text style={{ fontSize: 14, color: '#8B97A8' }}&gt;JS 前端 · 项目三 · 循环与商品批量统计&lt;/Text&gt;&#10;    &lt;Text style={{ fontSize: 14, color: '#0E3F8C' }}&gt;04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381000" y="285750"/>
            <a:ext cx="3200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三种循环遍历数组（结果等价）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304800" y="1143000"/>
            <a:ext cx="6096000" cy="5029200"/>
          </a:xfrm>
          <a:prstGeom prst="roundRect">
            <a:avLst>
              <a:gd name="adj" fmla="val 1515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667500" y="1143000"/>
            <a:ext cx="5219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为什么都要讲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667500" y="1590675"/>
            <a:ext cx="5219700" cy="12858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• 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for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：带索引，改第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i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个、跳过某条最方便。</a:t>
            </a:r>
            <a:endParaRPr/>
          </a:p>
          <a:p>
            <a:pPr>
              <a:lnSpc>
                <a:spcPct val="17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• 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for...of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：只拿元素，写起来最省心，本作业首选。</a:t>
            </a:r>
            <a:endParaRPr/>
          </a:p>
          <a:p>
            <a:pPr>
              <a:lnSpc>
                <a:spcPct val="17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• 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while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：条件驱动，但</a:t>
            </a: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忘自增会死循环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667500" y="3124200"/>
            <a:ext cx="5219700" cy="1038225"/>
          </a:xfrm>
          <a:prstGeom prst="roundRect">
            <a:avLst>
              <a:gd name="adj" fmla="val 7339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819900" y="3276600"/>
            <a:ext cx="49149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板书三版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让学生看到「写法不同、结果一样」，破除对循环的畏难。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JS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前端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项目三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循环与商品批量统计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04 / 08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1106150" y="323850"/>
            <a:ext cx="1085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JS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前端</a:t>
            </a: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项目三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476250" y="1314450"/>
            <a:ext cx="5753100" cy="4305300"/>
          </a:xfrm>
          <a:prstGeom prst="roundRect">
            <a:avLst>
              <a:gd name="adj" fmla="val 1770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54" name=""/>
          <p:cNvSpPr txBox="1"/>
          <p:nvPr/>
        </p:nvSpPr>
        <p:spPr>
          <a:xfrm rot="0" flipH="0" flipV="0">
            <a:off x="628650" y="1447800"/>
            <a:ext cx="5448300" cy="4038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// 示例商品：A001库存12, A002库存8, A003库存5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// 三种循环都算出 库存总量 = 25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// 1) for 循环（带索引，最通用）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let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s1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0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for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(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let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i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0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; i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&lt;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products.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length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; i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++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s1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+=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products[i].stock;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// 2) for...of（直接拿元素，最清爽）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let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s2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0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for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(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const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p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of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products) { s2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+=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p.stock; }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// 3) while（满足条件才继续）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let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s3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0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, idx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0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while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(idx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&lt;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products.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length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s3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+=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products[idx].stock; idx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++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55" name="" descr="&lt;Slide style={{ width: '1280px', height: '720px', background: '#FFFFFF', padding: 0 }}&gt;&#10;  &lt;Box style={{ height: 88, background: '#0E3F8C', width: '100%', flexDirection: 'row', alignItems: 'center', paddingLeft: 40, justifyContent: 'space-between' }}&gt;&#10;    &lt;Text style={{ color: '#FFFFFF', fontSize: 24, fontWeight: 'bold' }}&gt;分组统计：对象当计数桶&lt;/Text&gt;&#10;    &lt;Text style={{ color: '#FFFFFF', fontSize: 16, opacity: 0.8 }}&gt;JS 前端 · 项目三&lt;/Text&gt;&#10;  &lt;/Box&gt;&#10;  &lt;Box style={{ flexDirection: 'row', flex: 1, padding: 32, gap: 28 }}&gt;&#10;    &lt;Box style={{ width: 660, background: '#0F172A', borderRadius: 8, padding: 18 }}&gt;&#10;      &lt;CodeBlock&#10;        code={`// 用一个「对象」当计数桶，一个循环数出每类有几件&#10;const cats = {};&#10;for (const p of products) {&#10;  cats[p.category] = (cats[p.category] || 0) + 1;&#10;}&#10;// → { 家居: 2, 箱包: 1 }&#10;&#10;// 反例：写一堆 if 判断分类&#10;// 新增分类就要改代码，难维护&#10;// if (p.category === &quot;家居&quot;) home++;&#10;// if (p.category === &quot;箱包&quot;) bag++;`}&#10;        language='javascript'&#10;        width={624}&#10;        fontSize={14}&#10;      /&gt;&#10;    &lt;/Box&gt;&#10;    &lt;Box style={{ flex: 1, gap: 16 }}&gt;&#10;      &lt;Text style={{ fontSize: 24, fontWeight: 'bold', color: '#0E3F8C' }}&gt;为什么用「桶」&lt;/Text&gt;&#10;      &lt;Text style={{ fontSize: 22, color: '#1A2230', lineHeight: 1.7 }}&gt;&#10;        • 分类可能随时增减，&lt;span style={{ fontWeight: 'bold' }}&gt;对象当桶&lt;/span&gt; 自动适应，不用改代码。&lt;br /&gt;&#10;        • 关键写法：&lt;span style={{ color: '#1E4FA8', fontWeight: 'bold' }}&gt;(cats[c] || 0) + 1&lt;/span&gt; —— 桶不存在先给 0。&lt;br /&gt;&#10;        • 同思路可复用到词频、投票计数等。&#10;      &lt;/Text&gt;&#10;      &lt;Box style={{ background: '#F0F5FC', borderRadius: 8, padding: 16, marginTop: 6 }}&gt;&#10;        &lt;Text style={{ fontSize: 20, color: '#1A2230', lineHeight: 1.6 }}&gt;这是 aggregate 的核心一环：统计各分类商品数。&lt;/Text&gt;&#10;      &lt;/Box&gt;&#10;    &lt;/Box&gt;&#10;  &lt;/Box&gt;&#10;  &lt;Box style={{ height: 40, paddingLeft: 40, paddingRight: 40, flexDirection: 'row', justifyContent: 'space-between', alignItems: 'center' }}&gt;&#10;    &lt;Text style={{ fontSize: 14, color: '#8B97A8' }}&gt;JS 前端 · 项目三 · 循环与商品批量统计&lt;/Text&gt;&#10;    &lt;Text style={{ fontSize: 14, color: '#0E3F8C' }}&gt;05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381000" y="285750"/>
            <a:ext cx="2514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分组统计：对象当计数桶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304800" y="1143000"/>
            <a:ext cx="6286500" cy="5029200"/>
          </a:xfrm>
          <a:prstGeom prst="roundRect">
            <a:avLst>
              <a:gd name="adj" fmla="val 1515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858000" y="1143000"/>
            <a:ext cx="5029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为什么用「桶」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858000" y="1571625"/>
            <a:ext cx="5029200" cy="2143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•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分类可能随时增减，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对象当桶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自动适应，不用改代码。</a:t>
            </a:r>
            <a:endParaRPr/>
          </a:p>
          <a:p>
            <a:pPr>
              <a:lnSpc>
                <a:spcPct val="17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•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关键写法：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(cats[c] || 0) + 1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桶不存在先给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0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7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•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同思路可复用到词频、投票计数等。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858000" y="3924300"/>
            <a:ext cx="5029200" cy="676275"/>
          </a:xfrm>
          <a:prstGeom prst="roundRect">
            <a:avLst>
              <a:gd name="adj" fmla="val 11268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010400" y="4076700"/>
            <a:ext cx="47244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这是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aggregate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的核心一环：统计各分类商品数。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JS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前端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项目三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循环与商品批量统计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05 / 08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1106150" y="323850"/>
            <a:ext cx="1085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JS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前端</a:t>
            </a: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项目三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476250" y="1314450"/>
            <a:ext cx="5943600" cy="2733675"/>
          </a:xfrm>
          <a:prstGeom prst="roundRect">
            <a:avLst>
              <a:gd name="adj" fmla="val 2787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68" name=""/>
          <p:cNvSpPr txBox="1"/>
          <p:nvPr/>
        </p:nvSpPr>
        <p:spPr>
          <a:xfrm rot="0" flipH="0" flipV="0">
            <a:off x="628650" y="1447800"/>
            <a:ext cx="5638800" cy="2466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// 用一个「对象」当计数桶，一个循环数出每类有几件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const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cats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{};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for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(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const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p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of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products) {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cats[p.category]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(cats[p.category]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||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0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)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+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1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// → { 家居: 2, 箱包: 1 }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// 反例：写一堆 if 判断分类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// 新增分类就要改代码，难维护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// if (p.category === "家居") home++;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// if (p.category === "箱包") bag++;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69" name="" descr="&lt;Slide style={{ width: '1280px', height: '720px', background: '#FFFFFF', padding: 0 }}&gt;&#10;  &lt;Box style={{ height: 88, background: '#0E3F8C', width: '100%', flexDirection: 'row', alignItems: 'center', paddingLeft: 40, justifyContent: 'space-between' }}&gt;&#10;    &lt;Text style={{ color: '#FFFFFF', fontSize: 24, fontWeight: 'bold' }}&gt;母体函数：aggregate(products)&lt;/Text&gt;&#10;    &lt;Text style={{ color: '#FFFFFF', fontSize: 16, opacity: 0.8 }}&gt;JS 前端 · 项目三&lt;/Text&gt;&#10;  &lt;/Box&gt;&#10;  &lt;Box style={{ flexDirection: 'row', flex: 1, padding: 32, gap: 28 }}&gt;&#10;    &lt;Box style={{ width: 640, background: '#0F172A', borderRadius: 8, padding: 18 }}&gt;&#10;      &lt;CodeBlock&#10;        code={`function aggregate(list) {&#10;  const r = { total: list.length, stockSum: 0,&#10;    priceSum: 0, cats: {}, maxPrice: -Infinity,&#10;    minPrice: Infinity };&#10;  for (const p of list) {&#10;    r.stockSum += p.stock;&#10;    r.priceSum += p.price;&#10;    r.cats[p.category] =&#10;      (r.cats[p.category] || 0) + 1;&#10;    if (p.price &gt; r.maxPrice)&#10;      r.maxPrice = p.price;&#10;    if (p.price &lt; r.minPrice)&#10;      r.minPrice = p.price;&#10;  }&#10;  r.catCount = Object.keys(r.cats).length;&#10;  r.avgPrice = Math.round(&#10;    r.priceSum / r.total * 100) / 100;&#10;  return r;&#10;}`}&#10;        language='javascript'&#10;        width={604}&#10;        fontSize={13}&#10;      /&gt;&#10;    &lt;/Box&gt;&#10;    &lt;Box style={{ flex: 1, gap: 14 }}&gt;&#10;      &lt;Text style={{ fontSize: 24, fontWeight: 'bold', color: '#0E3F8C' }}&gt;返回统计对象&lt;/Text&gt;&#10;      &lt;Text style={{ fontSize: 20, color: '#1A2230', lineHeight: 1.6 }}&gt;&#10;        total / stockSum / priceSum / cats&lt;br /&gt;&#10;        catCount / maxPrice / minPrice / avgPrice&#10;      &lt;/Text&gt;&#10;      &lt;Box style={{ background: '#F0F5FC', borderRadius: 8, padding: 16 }}&gt;&#10;        &lt;Text style={{ fontSize: 20, color: '#1A2230', lineHeight: 1.6 }}&gt;&#10;          &lt;span style={{ fontWeight: 'bold', color: '#1E4FA8' }}&gt;母体一致性&lt;/span&gt;：函数名、参数、返回结构与期末综合案例（项目七 renderProducts 数据驱动渲染汇合处）&lt;span style={{ fontWeight: 'bold' }}&gt;逐字一致&lt;/span&gt;。静态起步模板目前还没有它，由你在项目三从零创建，期末直接复用，零跳变。&#10;        &lt;/Text&gt;&#10;      &lt;/Box&gt;&#10;    &lt;/Box&gt;&#10;  &lt;/Box&gt;&#10;  &lt;Box style={{ height: 40, paddingLeft: 40, paddingRight: 40, flexDirection: 'row', justifyContent: 'space-between', alignItems: 'center' }}&gt;&#10;    &lt;Text style={{ fontSize: 14, color: '#8B97A8' }}&gt;JS 前端 · 项目三 · 循环与商品批量统计&lt;/Text&gt;&#10;    &lt;Text style={{ fontSize: 14, color: '#0E3F8C' }}&gt;06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81000" y="285750"/>
            <a:ext cx="3524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母体函数：</a:t>
            </a: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aggregate(products)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304800" y="1143000"/>
            <a:ext cx="6096000" cy="5029200"/>
          </a:xfrm>
          <a:prstGeom prst="roundRect">
            <a:avLst>
              <a:gd name="adj" fmla="val 1515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667500" y="1143000"/>
            <a:ext cx="5219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返回统计对象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667500" y="1552575"/>
            <a:ext cx="5219700" cy="733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total / stockSum / priceSum / cats</a:t>
            </a:r>
            <a:endParaRPr/>
          </a:p>
          <a:p>
            <a:pPr>
              <a:lnSpc>
                <a:spcPct val="16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catCount / maxPrice / minPrice / avgPrice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667500" y="2419350"/>
            <a:ext cx="5219700" cy="1771650"/>
          </a:xfrm>
          <a:prstGeom prst="roundRect">
            <a:avLst>
              <a:gd name="adj" fmla="val 430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819900" y="2571750"/>
            <a:ext cx="4914900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母体一致性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：函数名、参数、返回结构与期末综合案例（项目七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renderProducts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数据驱动渲染汇合处）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逐字一致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。静态起步模板目前还没有它，由你在项目三从零创建，期末直接复用，零跳变。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JS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前端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项目三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循环与商品批量统计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06 / 08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106150" y="323850"/>
            <a:ext cx="1085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JS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前端</a:t>
            </a: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项目三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476250" y="1314450"/>
            <a:ext cx="5753100" cy="4219575"/>
          </a:xfrm>
          <a:prstGeom prst="roundRect">
            <a:avLst>
              <a:gd name="adj" fmla="val 1806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82" name=""/>
          <p:cNvSpPr txBox="1"/>
          <p:nvPr/>
        </p:nvSpPr>
        <p:spPr>
          <a:xfrm rot="0" flipH="0" flipV="0">
            <a:off x="628650" y="1447800"/>
            <a:ext cx="5448300" cy="3952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function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aggregate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</a:t>
            </a:r>
            <a:r>
              <a:rPr sz="975">
                <a:solidFill>
                  <a:srgbClr val="E36209"/>
                </a:solidFill>
                <a:latin typeface="Menlo"/>
                <a:ea typeface="Menlo"/>
              </a:rPr>
              <a:t>list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const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r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{ total: list.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length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stockSum: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0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priceSum: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0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cats: {}, maxPrice: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-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Infinity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minPrice: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Infinity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};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for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(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const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p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of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list) {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r.stockSum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+=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p.stock;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r.priceSum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+=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p.price;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r.cats[p.category]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(r.cats[p.category]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||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0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+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1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if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(p.price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&gt;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r.maxPrice)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r.maxPrice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p.price;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if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(p.price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&lt;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r.minPrice)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r.minPrice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p.price;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r.catCount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Object.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keys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(r.cats).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length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r.avgPrice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Math.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round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r.priceSum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/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r.total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*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100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/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100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return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r;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83" name="" descr="&lt;Slide style={{ width: '1280px', height: '720px', background: '#FFFFFF', padding: 0 }}&gt;&#10;  &lt;Box style={{ height: 88, background: '#0E3F8C', width: '100%', flexDirection: 'row', alignItems: 'center', paddingLeft: 40, justifyContent: 'space-between' }}&gt;&#10;    &lt;Text style={{ color: '#FFFFFF', fontSize: 24, fontWeight: 'bold' }}&gt;验收三档（对照硬交付物）&lt;/Text&gt;&#10;    &lt;Text style={{ color: '#FFFFFF', fontSize: 16, opacity: 0.8 }}&gt;JS 前端 · 项目三&lt;/Text&gt;&#10;  &lt;/Box&gt;&#10;  &lt;Box style={{ flex: 1, padding: 32, flexDirection: 'row', gap: 22, alignItems: 'stretch' }}&gt;&#10;    &lt;Box style={{ flex: 1, background: '#F0F5FC', border: '1px solid #D6DCE5', borderRadius: 8, padding: 22 }}&gt;&#10;      &lt;Text style={{ fontSize: 26, fontWeight: 'bold', color: '#4A5568' }}&gt;★ 合格&lt;/Text&gt;&#10;      &lt;Text style={{ fontSize: 20, color: '#1A2230', lineHeight: 1.7, marginTop: 12 }}&gt;&#10;        切片代码 node 跑通、自检通过；能口头说出 for / for...of / while 的区别。&#10;      &lt;/Text&gt;&#10;    &lt;/Box&gt;&#10;    &lt;Box style={{ flex: 1, background: '#0E3F8C', borderRadius: 8, padding: 22 }}&gt;&#10;      &lt;Text style={{ fontSize: 26, fontWeight: 'bold', color: '#FFFFFF' }}&gt;★★ 良好&lt;/Text&gt;&#10;      &lt;Text style={{ fontSize: 20, color: '#FFFFFF', lineHeight: 1.7, marginTop: 12 }}&gt;&#10;        新建 products.js + 把 aggregate 接到首页统计条（替换写死的静态数字），浏览器打开能看到真实数字；提交到自己的 fork。&#10;      &lt;/Text&gt;&#10;    &lt;/Box&gt;&#10;    &lt;Box style={{ flex: 1, background: '#F0F5FC', border: '1px solid #D6DCE5', borderRadius: 8, padding: 22 }}&gt;&#10;      &lt;Text style={{ fontSize: 26, fontWeight: 'bold', color: '#4A5568' }}&gt;★★★ 优秀&lt;/Text&gt;&#10;      &lt;Text style={{ fontSize: 20, color: '#1A2230', lineHeight: 1.7, marginTop: 12 }}&gt;&#10;        额外渲染「各分类明细 / 均价」，并写 ≤200 字操作手册，体现交付表达。&#10;      &lt;/Text&gt;&#10;    &lt;/Box&gt;&#10;  &lt;/Box&gt;&#10;  &lt;Box style={{ height: 40, paddingLeft: 40, paddingRight: 40, flexDirection: 'row', justifyContent: 'space-between', alignItems: 'center' }}&gt;&#10;    &lt;Text style={{ fontSize: 14, color: '#8B97A8' }}&gt;JS 前端 · 项目三 · 循环与商品批量统计&lt;/Text&gt;&#10;    &lt;Text style={{ fontSize: 14, color: '#0E3F8C' }}&gt;07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381000" y="285750"/>
            <a:ext cx="2743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验收三档（对照硬交付物）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304800" y="1143000"/>
            <a:ext cx="3724275" cy="5029200"/>
          </a:xfrm>
          <a:prstGeom prst="roundRect">
            <a:avLst>
              <a:gd name="adj" fmla="val 204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14350" y="1352550"/>
            <a:ext cx="33051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4A5568"/>
                </a:solidFill>
                <a:latin typeface="Microsoft YaHei"/>
                <a:ea typeface="Microsoft YaHei"/>
              </a:rPr>
              <a:t>★ </a:t>
            </a:r>
            <a:r>
              <a:rPr lang="zh-CN" sz="1950" b="1">
                <a:solidFill>
                  <a:srgbClr val="4A5568"/>
                </a:solidFill>
                <a:latin typeface="Microsoft YaHei"/>
                <a:ea typeface="Microsoft YaHei"/>
              </a:rPr>
              <a:t>合格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14350" y="1771650"/>
            <a:ext cx="3305175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切片代码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node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跑通、自检通过；能口头说出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for / for...of / while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的区别。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4238625" y="1143000"/>
            <a:ext cx="3714750" cy="5029200"/>
          </a:xfrm>
          <a:prstGeom prst="roundRect">
            <a:avLst>
              <a:gd name="adj" fmla="val 205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4448175" y="1352550"/>
            <a:ext cx="3295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★★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良好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448175" y="1771650"/>
            <a:ext cx="3295650" cy="1562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新建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 products.js +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把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 aggregate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接到首页统计条（替换写死的静态数字），浏览器打开能看到真实数字；提交到自己的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 fork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8162925" y="1143000"/>
            <a:ext cx="3724275" cy="5029200"/>
          </a:xfrm>
          <a:prstGeom prst="roundRect">
            <a:avLst>
              <a:gd name="adj" fmla="val 204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372475" y="1352550"/>
            <a:ext cx="33051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4A5568"/>
                </a:solidFill>
                <a:latin typeface="Microsoft YaHei"/>
                <a:ea typeface="Microsoft YaHei"/>
              </a:rPr>
              <a:t>★★★ </a:t>
            </a:r>
            <a:r>
              <a:rPr lang="zh-CN" sz="1950" b="1">
                <a:solidFill>
                  <a:srgbClr val="4A5568"/>
                </a:solidFill>
                <a:latin typeface="Microsoft YaHei"/>
                <a:ea typeface="Microsoft YaHei"/>
              </a:rPr>
              <a:t>优秀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372475" y="1771650"/>
            <a:ext cx="3305175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额外渲染「各分类明细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均价」，并写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≤200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字操作手册，体现交付表达。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JS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前端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项目三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循环与商品批量统计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07 / 08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1106150" y="323850"/>
            <a:ext cx="1085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JS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前端</a:t>
            </a: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项目三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99" name="" descr="&lt;Slide style={{ width: '1280px', height: '720px', background: '#FFFFFF', padding: 0 }}&gt;&#10;  &lt;Box style={{ height: 88, background: '#0E3F8C', width: '100%', flexDirection: 'row', alignItems: 'center', paddingLeft: 40 }}&gt;&#10;    &lt;Text style={{ color: '#FFFFFF', fontSize: 22, fontWeight: 'bold' }}&gt;收尾与下节课预告&lt;/Text&gt;&#10;  &lt;/Box&gt;&#10;  &lt;Box style={{ flex: 1, justifyContent: 'center', alignItems: 'center', padding: 60 }}&gt;&#10;    &lt;Text style={{ fontSize: 52, fontWeight: 'bold', color: '#0E3F8C' }}&gt;先看懂，跑通自检；细讲留给下节课&lt;/Text&gt;&#10;    &lt;Box style={{ marginTop: 36, padding: 26, background: '#F0F5FC', borderRadius: 8, maxWidth: 900 }}&gt;&#10;      &lt;Text style={{ fontSize: 24, color: '#1A2230', lineHeight: 1.8, textAlign: 'center' }}&gt;&#10;        本堂课优先级：git 闭环 + 看懂 aggregate 雏形并跑通自检。&lt;br /&gt;&#10;        下节课用 25 分钟把循环难点、变式（分类过滤 / 销量排序）讲透，并收操作手册。&lt;br /&gt;&#10;        学生版实训 PPT 与《作业说明》已可独立自学，无需等课堂。&#10;      &lt;/Text&gt;&#10;    &lt;/Box&gt;&#10;  &lt;/Box&gt;&#10;  &lt;Box style={{ height: 40, paddingLeft: 40, paddingRight: 40, flexDirection: 'row', justifyContent: 'space-between', alignItems: 'center' }}&gt;&#10;    &lt;Text style={{ fontSize: 14, color: '#8B97A8' }}&gt;JS 前端 · 项目三 · 循环与商品批量统计&lt;/Text&gt;&#10;    &lt;Text style={{ fontSize: 14, color: '#0E3F8C' }}&gt;08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81000" y="295275"/>
            <a:ext cx="167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收尾与下节课预告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2133600" y="1952625"/>
            <a:ext cx="79248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0E3F8C"/>
                </a:solidFill>
                <a:latin typeface="Microsoft YaHei"/>
                <a:ea typeface="Microsoft YaHei"/>
              </a:rPr>
              <a:t>先看懂，跑通自检；细讲留给下节课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1809750" y="2895600"/>
            <a:ext cx="8572500" cy="2476500"/>
          </a:xfrm>
          <a:prstGeom prst="roundRect">
            <a:avLst>
              <a:gd name="adj" fmla="val 307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2057400" y="3143250"/>
            <a:ext cx="8077200" cy="19812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80000"/>
              </a:lnSpc>
            </a:pP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本堂课优先级：</a:t>
            </a:r>
            <a:r>
              <a:rPr lang="en-US" sz="1800">
                <a:solidFill>
                  <a:srgbClr val="1A2230"/>
                </a:solidFill>
                <a:latin typeface="Microsoft YaHei"/>
                <a:ea typeface="Microsoft YaHei"/>
              </a:rPr>
              <a:t>git </a:t>
            </a: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闭环</a:t>
            </a:r>
            <a:r>
              <a:rPr lang="en-US" sz="1800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看懂</a:t>
            </a:r>
            <a:r>
              <a:rPr lang="en-US" sz="1800">
                <a:solidFill>
                  <a:srgbClr val="1A2230"/>
                </a:solidFill>
                <a:latin typeface="Microsoft YaHei"/>
                <a:ea typeface="Microsoft YaHei"/>
              </a:rPr>
              <a:t> aggregate </a:t>
            </a: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雏形并跑通自检。</a:t>
            </a:r>
            <a:endParaRPr/>
          </a:p>
          <a:p>
            <a:pPr algn="ctr">
              <a:lnSpc>
                <a:spcPct val="180000"/>
              </a:lnSpc>
            </a:pP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下节课用</a:t>
            </a:r>
            <a:r>
              <a:rPr lang="en-US" sz="1800">
                <a:solidFill>
                  <a:srgbClr val="1A2230"/>
                </a:solidFill>
                <a:latin typeface="Microsoft YaHei"/>
                <a:ea typeface="Microsoft YaHei"/>
              </a:rPr>
              <a:t> 25 </a:t>
            </a: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分钟把循环难点、变式（分类过滤</a:t>
            </a:r>
            <a:r>
              <a:rPr lang="en-US" sz="1800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销量排序）讲透，并收操作手册。</a:t>
            </a:r>
            <a:endParaRPr/>
          </a:p>
          <a:p>
            <a:pPr algn="ctr">
              <a:lnSpc>
                <a:spcPct val="180000"/>
              </a:lnSpc>
            </a:pP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学生版实训</a:t>
            </a:r>
            <a:r>
              <a:rPr lang="en-US" sz="1800">
                <a:solidFill>
                  <a:srgbClr val="1A2230"/>
                </a:solidFill>
                <a:latin typeface="Microsoft YaHei"/>
                <a:ea typeface="Microsoft YaHei"/>
              </a:rPr>
              <a:t> PPT </a:t>
            </a: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与《作业说明》已可独立自学，无需等课堂。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JS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前端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项目三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循环与商品批量统计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08 / 08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2026-10-09T11:07:36Z</dcterms:created>
  <dcterms:modified xsi:type="dcterms:W3CDTF">2026-10-09T11:07:36Z</dcterms:modified>
</cp:coreProperties>
</file>