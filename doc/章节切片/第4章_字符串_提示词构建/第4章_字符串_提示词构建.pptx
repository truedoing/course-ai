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13" Type="http://schemas.openxmlformats.org/officeDocument/2006/relationships/viewProps" Target="viewProps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12" Type="http://schemas.openxmlformats.org/officeDocument/2006/relationships/tableStyles" Target="tableStyles.xml" /><Relationship Id="rId7" Type="http://schemas.openxmlformats.org/officeDocument/2006/relationships/slide" Target="slides/slide7.xml" /><Relationship Id="rId10" Type="http://schemas.openxmlformats.org/officeDocument/2006/relationships/notesMaster" Target="notesMasters/notesMaster1.xml" /><Relationship Id="rId11" Type="http://schemas.openxmlformats.org/officeDocument/2006/relationships/presProps" Target="presProps.xml" /><Relationship Id="rId6" Type="http://schemas.openxmlformats.org/officeDocument/2006/relationships/slide" Target="slides/slide6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 style={{ width: '1280px', height: '720px', background: '#FFFFFF', padding: 0 }}&gt;&#10;  &lt;Box style={{ height: 10, background: '#0E3F8C' }} /&gt;&#10;  &lt;Box style={{ flex: 1, flexDirection: 'column', justifyContent: 'center', padding: '0 90px', gap: 18 }}&gt;&#10;    &lt;Text style={{ fontSize: 15, color: '#1E4FA8', letterSpacing: 2, fontWeight: 'bold' }}&gt;一级底座 · Python 课程改造&lt;/Text&gt;&#10;    &lt;Text style={{ fontSize: 52, fontWeight: 'bold', color: '#0E3F8C' }}&gt;第4章切片 · 字符串 → 提示词构建&lt;/Text&gt;&#10;    &lt;Text style={{ fontSize: 24, color: '#4A5568' }}&gt;manhua.py 章节切片教学包（构件2 · 提示词）&lt;/Text&gt;&#10;    &lt;Box style={{ height: 1, background: '#D6DCE5', marginTop: 8, marginBottom: 8 }} /&gt;&#10;    &lt;Text style={{ fontSize: 18, color: '#8B97A8' }}&gt;面向刚学完 if / for 的学生 · 零环境依赖 · 母体一致性&lt;/Text&gt;&#10;  &lt;/Box&gt;&#10;  &lt;Box style={{ height: 56, flexDirection: 'row', alignItems: 'center', justifyContent: 'space-between', padding: '0 90px', background: '#F0F5FC' }}&gt;&#10;    &lt;Text style={{ fontSize: 15, color: '#4A5568' }}&gt;授课：张老师　|　课程：Python 基础&lt;/Text&gt;&#10;    &lt;Text style={{ fontSize: 15, color: '#4A5568' }}&gt;2026 秋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57250" y="2162175"/>
            <a:ext cx="1047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1E4FA8"/>
                </a:solidFill>
                <a:latin typeface="Microsoft YaHei"/>
                <a:ea typeface="Microsoft YaHei"/>
              </a:rPr>
              <a:t>一级底座</a:t>
            </a:r>
            <a:r>
              <a:rPr lang="en-US" sz="1125" b="1" spc="150">
                <a:solidFill>
                  <a:srgbClr val="1E4FA8"/>
                </a:solidFill>
                <a:latin typeface="Microsoft YaHei"/>
                <a:ea typeface="Microsoft YaHei"/>
              </a:rPr>
              <a:t> · Python </a:t>
            </a:r>
            <a:r>
              <a:rPr lang="zh-CN" sz="1125" b="1" spc="150">
                <a:solidFill>
                  <a:srgbClr val="1E4FA8"/>
                </a:solidFill>
                <a:latin typeface="Microsoft YaHei"/>
                <a:ea typeface="Microsoft YaHei"/>
              </a:rPr>
              <a:t>课程改造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57250" y="2505075"/>
            <a:ext cx="104775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3900" b="1">
                <a:solidFill>
                  <a:srgbClr val="0E3F8C"/>
                </a:solidFill>
                <a:latin typeface="Microsoft YaHei"/>
                <a:ea typeface="Microsoft YaHei"/>
              </a:rPr>
              <a:t>4</a:t>
            </a:r>
            <a:r>
              <a:rPr lang="zh-CN" sz="3900" b="1">
                <a:solidFill>
                  <a:srgbClr val="0E3F8C"/>
                </a:solidFill>
                <a:latin typeface="Microsoft YaHei"/>
                <a:ea typeface="Microsoft YaHei"/>
              </a:rPr>
              <a:t>章切片</a:t>
            </a:r>
            <a:r>
              <a:rPr lang="en-US" sz="390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3900" b="1">
                <a:solidFill>
                  <a:srgbClr val="0E3F8C"/>
                </a:solidFill>
                <a:latin typeface="Microsoft YaHei"/>
                <a:ea typeface="Microsoft YaHei"/>
              </a:rPr>
              <a:t>字符串</a:t>
            </a:r>
            <a:r>
              <a:rPr lang="en-US" sz="3900" b="1">
                <a:solidFill>
                  <a:srgbClr val="0E3F8C"/>
                </a:solidFill>
                <a:latin typeface="Microsoft YaHei"/>
                <a:ea typeface="Microsoft YaHei"/>
              </a:rPr>
              <a:t> → </a:t>
            </a:r>
            <a:r>
              <a:rPr lang="zh-CN" sz="3900" b="1">
                <a:solidFill>
                  <a:srgbClr val="0E3F8C"/>
                </a:solidFill>
                <a:latin typeface="Microsoft YaHei"/>
                <a:ea typeface="Microsoft YaHei"/>
              </a:rPr>
              <a:t>提示词构建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57250" y="3276600"/>
            <a:ext cx="10477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manhua.py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章节切片教学包（构件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2 ·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提示词）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857250" y="3800475"/>
            <a:ext cx="104775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57250" y="4057650"/>
            <a:ext cx="1047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面向刚学完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if / for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的学生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零环境依赖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母体一致性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0" y="6324600"/>
            <a:ext cx="12192000" cy="5334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57250" y="6505575"/>
            <a:ext cx="2428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授课：张老师　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|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　课程：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Python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基础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0810875" y="6505575"/>
            <a:ext cx="523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2026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秋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2" name="" descr="&lt;Slide style={{ width: '1280px', height: '720px', background: '#FFFFFF', padding: 0 }}&gt;&#10;  &lt;Box style={{ height: 56, background: '#0E3F8C', flexDirection: 'row', alignItems: 'center', paddingLeft: 40, paddingRight: 40, justifyContent: 'space-between' }}&gt;&#10;    &lt;Text style={{ fontSize: 22, fontWeight: 'bold', color: '#FFFFFF' }}&gt;目录 · Agenda&lt;/Text&gt;&#10;    &lt;Text style={{ fontSize: 13, color: '#C7D6EE' }}&gt;manhua.py 章节切片教学包&lt;/Text&gt;&#10;  &lt;/Box&gt;&#10;  &lt;Box style={{ flex: 1, flexDirection: 'row', padding: '40px 56px', gap: 56 }}&gt;&#10;    &lt;Box style={{ flex: 1, flexDirection: 'column', gap: 26, justifyContent: 'center' }}&gt;&#10;      {[{ n: '01', t: '为什么切片', d: 'V1 认知过载 → 按章节拆成微案例' }, { n: '02', t: '学习目标', d: '知识 / 能力 / 素养 三维' }, { n: '03', t: '核心概念', d: '用 f-string 拼装提示词' }].map((it, i) =&gt; (&#10;        &lt;Box key={i} style={{ flexDirection: 'row', alignItems: 'center', gap: 18 }}&gt;&#10;          &lt;Box style={{ width: 46, height: 46, background: '#0E3F8C', borderRadius: 8, alignItems: 'center', justifyContent: 'center' }}&gt;&#10;            &lt;Text style={{ fontSize: 20, fontWeight: 'bold', color: '#FFFFFF' }}&gt;{it.n}&lt;/Text&gt;&#10;          &lt;/Box&gt;&#10;          &lt;Box&gt;&#10;            &lt;Text style={{ fontSize: 22, fontWeight: 'bold', color: '#1E4FA8' }}&gt;{it.t}&lt;/Text&gt;&#10;            &lt;Text style={{ fontSize: 15, color: '#4A5568' }}&gt;{it.d}&lt;/Text&gt;&#10;          &lt;/Box&gt;&#10;        &lt;/Box&gt;&#10;      ))}&#10;    &lt;/Box&gt;&#10;    &lt;Box style={{ flex: 1, flexDirection: 'column', gap: 26, justifyContent: 'center' }}&gt;&#10;      {[{ n: '04', t: '母体函数', d: 'build_scene_prompt 与源码同名' }, { n: '05', t: '学生练习', d: '三道递进任务（必做 + 选做）' }, { n: '06', t: '验收与衔接', d: '三档标准 + 第7章衔接' }].map((it, i) =&gt; (&#10;        &lt;Box key={i} style={{ flexDirection: 'row', alignItems: 'center', gap: 18 }}&gt;&#10;          &lt;Box style={{ width: 46, height: 46, background: '#1E4FA8', borderRadius: 8, alignItems: 'center', justifyContent: 'center' }}&gt;&#10;            &lt;Text style={{ fontSize: 20, fontWeight: 'bold', color: '#FFFFFF' }}&gt;{it.n}&lt;/Text&gt;&#10;          &lt;/Box&gt;&#10;          &lt;Box&gt;&#10;            &lt;Text style={{ fontSize: 22, fontWeight: 'bold', color: '#1E4FA8' }}&gt;{it.t}&lt;/Text&gt;&#10;            &lt;Text style={{ fontSize: 15, color: '#4A5568' }}&gt;{it.d}&lt;/Text&gt;&#10;          &lt;/Box&gt;&#10;        &lt;/Box&gt;&#10;      ))}&#10;    &lt;/Box&gt;&#10;  &lt;/Box&gt;&#10;  &lt;Box style={{ position: 'absolute', bottom: 0, left: 0, right: 0, height: 34, flexDirection: 'row', alignItems: 'center', justifyContent: 'flex-end', paddingRight: 40 }}&gt;&#10;    &lt;Text style={{ fontSize: 14, color: '#1E4FA8' }}&gt;02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81000" y="142875"/>
            <a:ext cx="1457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· Agenda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248900" y="190500"/>
            <a:ext cx="1562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7D6EE"/>
                </a:solidFill>
                <a:latin typeface="Microsoft YaHei"/>
                <a:ea typeface="Microsoft YaHei"/>
              </a:rPr>
              <a:t>manhua.py </a:t>
            </a:r>
            <a:r>
              <a:rPr lang="zh-CN" sz="975">
                <a:solidFill>
                  <a:srgbClr val="C7D6EE"/>
                </a:solidFill>
                <a:latin typeface="Microsoft YaHei"/>
                <a:ea typeface="Microsoft YaHei"/>
              </a:rPr>
              <a:t>章节切片教学包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533400" y="27908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38175" y="28956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143000" y="2800350"/>
            <a:ext cx="2171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为什么切片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43000" y="3057525"/>
            <a:ext cx="217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V1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认知过载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按章节拆成微案例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533400" y="34766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38175" y="35814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143000" y="3486150"/>
            <a:ext cx="1485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学习目标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43000" y="3743325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知识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能力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素养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三维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533400" y="41624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38175" y="42672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143000" y="4171950"/>
            <a:ext cx="1438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核心概念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143000" y="4429125"/>
            <a:ext cx="143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f-string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拼装提示词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362700" y="27908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467475" y="28956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972300" y="2800350"/>
            <a:ext cx="2133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母体函数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972300" y="305752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build_scene_prompt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与源码同名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362700" y="34766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467475" y="35814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972300" y="3486150"/>
            <a:ext cx="1914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学生练习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972300" y="3743325"/>
            <a:ext cx="1914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三道递进任务（必做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选做）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362700" y="41624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467475" y="42672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972300" y="4171950"/>
            <a:ext cx="1419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验收与衔接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972300" y="4429125"/>
            <a:ext cx="1419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三档标准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7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章衔接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02 / 09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42" name="" descr="&lt;Slide style={{ width: '1280px', height: '720px', background: '#FFFFFF', padding: 0 }}&gt;&#10;  &lt;Box style={{ height: 56, background: '#0E3F8C', flexDirection: 'row', alignItems: 'center', paddingLeft: 40, paddingRight: 40, justifyContent: 'space-between' }}&gt;&#10;    &lt;Text style={{ fontSize: 22, fontWeight: 'bold', color: '#FFFFFF' }}&gt;为什么切片：把综合案例拆到学生够得着的高度&lt;/Text&gt;&#10;    &lt;Text style={{ fontSize: 13, color: '#C7D6EE' }}&gt;manhua.py 章节切片教学包&lt;/Text&gt;&#10;  &lt;/Box&gt;&#10;  &lt;Box style={{ flex: 1, flexDirection: 'row', padding: '30px 40px', gap: 28 }}&gt;&#10;    &lt;Box style={{ flex: 1, background: '#F0F5FC', border: '1px solid #D6DCE5', borderRadius: 12, padding: '22px 24px', flexDirection: 'column', gap: 14 }}&gt;&#10;      &lt;Box style={{ flexDirection: 'row', alignItems: 'center', gap: 10 }}&gt;&#10;        &lt;Box style={{ background: '#D9534F', borderRadius: 6, padding: '4px 10px' }}&gt;&#10;          &lt;Text style={{ fontSize: 16, fontWeight: 'bold', color: '#FFFFFF' }}&gt;痛点&lt;/Text&gt;&#10;        &lt;/Box&gt;&#10;        &lt;Text style={{ fontSize: 22, fontWeight: 'bold', color: '#0E3F8C' }}&gt;一步到位太重&lt;/Text&gt;&#10;      &lt;/Box&gt;&#10;      &lt;Text style={{ fontSize: 23, color: '#1A2230', lineHeight: 1.7 }}&gt;&#10;        manhua.py 是综合案例，但 V1 一起步就同时踩到 &lt;span style={{ fontWeight: 'bold', color: '#D9534F' }}&gt;文件读写 + HTTP 请求 + base64 编码 + 环境变量 + 异常处理&lt;/span&gt;。刚学完 if / for 的学生直接上，会被一堆陌生符号淹没——他不是不会分支循环，是认知过载。&#10;      &lt;/Text&gt;&#10;    &lt;/Box&gt;&#10;    &lt;Box style={{ flex: 1, background: '#E8EFF8', border: '1px solid #3D7BD9', borderRadius: 12, padding: '22px 24px', flexDirection: 'column', gap: 14 }}&gt;&#10;      &lt;Box style={{ flexDirection: 'row', alignItems: 'center', gap: 10 }}&gt;&#10;        &lt;Box style={{ background: '#1E4FA8', borderRadius: 6, padding: '4px 10px' }}&gt;&#10;          &lt;Text style={{ fontSize: 16, fontWeight: 'bold', color: '#FFFFFF' }}&gt;解法&lt;/Text&gt;&#10;        &lt;/Box&gt;&#10;        &lt;Text style={{ fontSize: 22, fontWeight: 'bold', color: '#0E3F8C' }}&gt;切片到够得着&lt;/Text&gt;&#10;      &lt;/Box&gt;&#10;      &lt;Text style={{ fontSize: 23, color: '#1A2230', lineHeight: 1.7 }}&gt;&#10;        按 Python 课程章节把综合案例切成微案例，&lt;span style={{ fontWeight: 'bold', color: '#1E4FA8' }}&gt;每步只叠加一个新技术点&lt;/span&gt;。第4章只学字符串拼提示词，零依赖；文件、HTTP、key 全推到最后一关。学生一路都在复用同一套母体零件。&#10;      &lt;/Text&gt;&#10;    &lt;/Box&gt;&#10;  &lt;/Box&gt;&#10;  &lt;Box style={{ margin: '0 40px 40px 40px', background: '#0E3F8C', borderRadius: 10, padding: '16px 22px' }}&gt;&#10;    &lt;Text style={{ fontSize: 20, color: '#FFFFFF', lineHeight: 1.6 }}&gt;&#10;      原理支撑：&lt;span style={{ fontWeight: 'bold' }}&gt;Bruner 螺旋式课程&lt;/span&gt;（同一母体复杂度逐轮上升） + &lt;span style={{ fontWeight: 'bold' }}&gt;Sweller 认知负荷控制&lt;/span&gt;（每步只加一个新点）。&#10;    &lt;/Text&gt;&#10;  &lt;/Box&gt;&#10;  &lt;Box style={{ position: 'absolute', bottom: 0, left: 0, right: 0, height: 34, flexDirection: 'row', alignItems: 'center', justifyContent: 'flex-end', paddingRight: 40 }}&gt;&#10;    &lt;Text style={{ fontSize: 14, color: '#1E4FA8' }}&gt;03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81000" y="142875"/>
            <a:ext cx="4400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为什么切片：把综合案例拆到学生够得着的高度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0248900" y="190500"/>
            <a:ext cx="1562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7D6EE"/>
                </a:solidFill>
                <a:latin typeface="Microsoft YaHei"/>
                <a:ea typeface="Microsoft YaHei"/>
              </a:rPr>
              <a:t>manhua.py </a:t>
            </a:r>
            <a:r>
              <a:rPr lang="zh-CN" sz="975">
                <a:solidFill>
                  <a:srgbClr val="C7D6EE"/>
                </a:solidFill>
                <a:latin typeface="Microsoft YaHei"/>
                <a:ea typeface="Microsoft YaHei"/>
              </a:rPr>
              <a:t>章节切片教学包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381000" y="819150"/>
            <a:ext cx="5581650" cy="4695825"/>
          </a:xfrm>
          <a:prstGeom prst="roundRect">
            <a:avLst>
              <a:gd name="adj" fmla="val 2434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609600" y="1028700"/>
            <a:ext cx="495300" cy="266700"/>
          </a:xfrm>
          <a:prstGeom prst="roundRect">
            <a:avLst>
              <a:gd name="adj" fmla="val 21429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04850" y="10668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痛点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200150" y="1038225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一步到位太重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" y="1428750"/>
            <a:ext cx="5124450" cy="2238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manhua.py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是综合案例，但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V1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一起步就同时踩到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725" b="1">
                <a:solidFill>
                  <a:srgbClr val="D9534F"/>
                </a:solidFill>
                <a:latin typeface="Microsoft YaHei"/>
                <a:ea typeface="Microsoft YaHei"/>
              </a:rPr>
              <a:t>文件读写</a:t>
            </a:r>
            <a:r>
              <a:rPr lang="en-US" sz="1725" b="1">
                <a:solidFill>
                  <a:srgbClr val="D9534F"/>
                </a:solidFill>
                <a:latin typeface="Microsoft YaHei"/>
                <a:ea typeface="Microsoft YaHei"/>
              </a:rPr>
              <a:t> + HTTP </a:t>
            </a:r>
            <a:r>
              <a:rPr lang="zh-CN" sz="1725" b="1">
                <a:solidFill>
                  <a:srgbClr val="D9534F"/>
                </a:solidFill>
                <a:latin typeface="Microsoft YaHei"/>
                <a:ea typeface="Microsoft YaHei"/>
              </a:rPr>
              <a:t>请求</a:t>
            </a:r>
            <a:r>
              <a:rPr lang="en-US" sz="1725" b="1">
                <a:solidFill>
                  <a:srgbClr val="D9534F"/>
                </a:solidFill>
                <a:latin typeface="Microsoft YaHei"/>
                <a:ea typeface="Microsoft YaHei"/>
              </a:rPr>
              <a:t> + base64 </a:t>
            </a:r>
            <a:r>
              <a:rPr lang="zh-CN" sz="1725" b="1">
                <a:solidFill>
                  <a:srgbClr val="D9534F"/>
                </a:solidFill>
                <a:latin typeface="Microsoft YaHei"/>
                <a:ea typeface="Microsoft YaHei"/>
              </a:rPr>
              <a:t>编码</a:t>
            </a:r>
            <a:r>
              <a:rPr lang="en-US" sz="1725" b="1">
                <a:solidFill>
                  <a:srgbClr val="D9534F"/>
                </a:solidFill>
                <a:latin typeface="Microsoft YaHei"/>
                <a:ea typeface="Microsoft YaHei"/>
              </a:rPr>
              <a:t> + </a:t>
            </a:r>
            <a:r>
              <a:rPr lang="zh-CN" sz="1725" b="1">
                <a:solidFill>
                  <a:srgbClr val="D9534F"/>
                </a:solidFill>
                <a:latin typeface="Microsoft YaHei"/>
                <a:ea typeface="Microsoft YaHei"/>
              </a:rPr>
              <a:t>环境变量</a:t>
            </a:r>
            <a:r>
              <a:rPr lang="en-US" sz="1725" b="1">
                <a:solidFill>
                  <a:srgbClr val="D9534F"/>
                </a:solidFill>
                <a:latin typeface="Microsoft YaHei"/>
                <a:ea typeface="Microsoft YaHei"/>
              </a:rPr>
              <a:t> + </a:t>
            </a:r>
            <a:r>
              <a:rPr lang="zh-CN" sz="1725" b="1">
                <a:solidFill>
                  <a:srgbClr val="D9534F"/>
                </a:solidFill>
                <a:latin typeface="Microsoft YaHei"/>
                <a:ea typeface="Microsoft YaHei"/>
              </a:rPr>
              <a:t>异常处理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。刚学完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if / for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的学生直接上，会被一堆陌生符号淹没——他不是不会分支循环，是认知过载。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229350" y="819150"/>
            <a:ext cx="5581650" cy="4695825"/>
          </a:xfrm>
          <a:prstGeom prst="roundRect">
            <a:avLst>
              <a:gd name="adj" fmla="val 2434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6457950" y="1028700"/>
            <a:ext cx="495300" cy="266700"/>
          </a:xfrm>
          <a:prstGeom prst="roundRect">
            <a:avLst>
              <a:gd name="adj" fmla="val 2142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553200" y="10668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解法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048500" y="1038225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切片到够得着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457950" y="1428750"/>
            <a:ext cx="5124450" cy="1790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按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Python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课程章节把综合案例切成微案例，</a:t>
            </a:r>
            <a:r>
              <a:rPr lang="zh-CN" sz="1725" b="1">
                <a:solidFill>
                  <a:srgbClr val="1E4FA8"/>
                </a:solidFill>
                <a:latin typeface="Microsoft YaHei"/>
                <a:ea typeface="Microsoft YaHei"/>
              </a:rPr>
              <a:t>每步只叠加一个新技术点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。第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4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章只学字符串拼提示词，零依赖；文件、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HTTP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key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全推到最后一关。学生一路都在复用同一套母体零件。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381000" y="5800725"/>
            <a:ext cx="11430000" cy="676275"/>
          </a:xfrm>
          <a:prstGeom prst="roundRect">
            <a:avLst>
              <a:gd name="adj" fmla="val 1408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90550" y="5953125"/>
            <a:ext cx="11010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原理支撑：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Bruner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螺旋式课程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（同一母体复杂度逐轮上升）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Sweller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认知负荷控制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（每步只加一个新点）。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03 / 09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60" name="" descr="&lt;Slide style={{ width: '1280px', height: '720px', background: '#FFFFFF', padding: 0 }}&gt;&#10;  &lt;Box style={{ height: 56, background: '#0E3F8C', flexDirection: 'row', alignItems: 'center', paddingLeft: 40, paddingRight: 40, justifyContent: 'space-between' }}&gt;&#10;    &lt;Text style={{ fontSize: 22, fontWeight: 'bold', color: '#FFFFFF' }}&gt;学习目标：知识 / 能力 / 素养&lt;/Text&gt;&#10;    &lt;Text style={{ fontSize: 13, color: '#C7D6EE' }}&gt;manhua.py 章节切片教学包&lt;/Text&gt;&#10;  &lt;/Box&gt;&#10;  &lt;Box style={{ flex: 1, flexDirection: 'row', padding: '30px 40px', gap: 26 }}&gt;&#10;    &lt;Box style={{ flex: 1, background: '#F0F5FC', border: '1px solid #D6DCE5', borderRadius: 12, padding: '22px 24px', flexDirection: 'column', gap: 12 }}&gt;&#10;      &lt;Text style={{ fontSize: 26, fontWeight: 'bold', color: '#0E3F8C' }}&gt;知识&lt;/Text&gt;&#10;      &lt;Text style={{ fontSize: 22, color: '#1A2230', lineHeight: 1.75 }}&gt;&#10;        掌握 f-string 拼装字符串的写法；理解字符串是不可变序列这一特性；能区分 f-string、『+』拼接、『.format()』三种方式，并说明各自适用场景——变量多时优先 f-string，既可读又不易漏字段。&#10;      &lt;/Text&gt;&#10;    &lt;/Box&gt;&#10;    &lt;Box style={{ flex: 1, background: '#E8EFF8', border: '1px solid #3D7BD9', borderRadius: 12, padding: '22px 24px', flexDirection: 'column', gap: 12 }}&gt;&#10;      &lt;Text style={{ fontSize: 26, fontWeight: 'bold', color: '#0E3F8C' }}&gt;能力&lt;/Text&gt;&#10;      &lt;Text style={{ fontSize: 22, color: '#1A2230', lineHeight: 1.75 }}&gt;&#10;        能把『给画图模型的提示词』这一真实需求，拆成一个带参数的纯函数 build_scene_prompt；掌握用 for 循环遍历场景库批量生成提示词；学有余力时把循环封装为返回列表的函数。&#10;      &lt;/Text&gt;&#10;    &lt;/Box&gt;&#10;    &lt;Box style={{ flex: 1, background: '#F0F5FC', border: '1px solid #D6DCE5', borderRadius: 12, padding: '22px 24px', flexDirection: 'column', gap: 12 }}&gt;&#10;      &lt;Text style={{ fontSize: 26, fontWeight: 'bold', color: '#0E3F8C' }}&gt;素养&lt;/Text&gt;&#10;      &lt;Text style={{ fontSize: 22, color: '#1A2230', lineHeight: 1.75 }}&gt;&#10;        建立『字符串是人与 AI 模型之间的契约语言』这一观念——你写出的每个字都会原样交给模型。养成字段顺序稳定、标点规范、变量值完整的好习惯，为综合阶段接回管线打底。&#10;      &lt;/Text&gt;&#10;    &lt;/Box&gt;&#10;  &lt;/Box&gt;&#10;  &lt;Box style={{ position: 'absolute', bottom: 0, left: 0, right: 0, height: 34, flexDirection: 'row', alignItems: 'center', justifyContent: 'flex-end', paddingRight: 40 }}&gt;&#10;    &lt;Text style={{ fontSize: 14, color: '#1E4FA8' }}&gt;04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381000" y="142875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学习目标：知识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能力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素养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0248900" y="190500"/>
            <a:ext cx="1562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7D6EE"/>
                </a:solidFill>
                <a:latin typeface="Microsoft YaHei"/>
                <a:ea typeface="Microsoft YaHei"/>
              </a:rPr>
              <a:t>manhua.py </a:t>
            </a:r>
            <a:r>
              <a:rPr lang="zh-CN" sz="975">
                <a:solidFill>
                  <a:srgbClr val="C7D6EE"/>
                </a:solidFill>
                <a:latin typeface="Microsoft YaHei"/>
                <a:ea typeface="Microsoft YaHei"/>
              </a:rPr>
              <a:t>章节切片教学包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381000" y="819150"/>
            <a:ext cx="3648075" cy="5753100"/>
          </a:xfrm>
          <a:prstGeom prst="roundRect">
            <a:avLst>
              <a:gd name="adj" fmla="val 313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1028700"/>
            <a:ext cx="31908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知识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1447800"/>
            <a:ext cx="3190875" cy="2647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掌握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f-string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拼装字符串的写法；理解字符串是不可变序列这一特性；能区分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f-string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、『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+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』拼接、『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.format()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』三种方式，并说明各自适用场景——变量多时优先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f-string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，既可读又不易漏字段。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4276725" y="819150"/>
            <a:ext cx="3638550" cy="5753100"/>
          </a:xfrm>
          <a:prstGeom prst="roundRect">
            <a:avLst>
              <a:gd name="adj" fmla="val 3141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505325" y="1028700"/>
            <a:ext cx="3181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能力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505325" y="1447800"/>
            <a:ext cx="3181350" cy="2647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能把『给画图模型的提示词』这一真实需求，拆成一个带参数的纯函数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build_scene_prompt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；掌握用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for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循环遍历场景库批量生成提示词；学有余力时把循环封装为返回列表的函数。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8162925" y="819150"/>
            <a:ext cx="3648075" cy="5753100"/>
          </a:xfrm>
          <a:prstGeom prst="roundRect">
            <a:avLst>
              <a:gd name="adj" fmla="val 313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391525" y="1028700"/>
            <a:ext cx="31908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素养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391525" y="1447800"/>
            <a:ext cx="3190875" cy="2647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建立『字符串是人与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模型之间的契约语言』这一观念——你写出的每个字都会原样交给模型。养成字段顺序稳定、标点规范、变量值完整的好习惯，为综合阶段接回管线打底。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04 / 09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75" name="" descr="&lt;Slide style={{ width: '1280px', height: '720px', background: '#FFFFFF', padding: 0 }}&gt;&#10;  &lt;Box style={{ height: 56, background: '#0E3F8C', flexDirection: 'row', alignItems: 'center', paddingLeft: 40, paddingRight: 40, justifyContent: 'space-between' }}&gt;&#10;    &lt;Text style={{ fontSize: 22, fontWeight: 'bold', color: '#FFFFFF' }}&gt;核心概念：用 f-string 拼装提示词&lt;/Text&gt;&#10;    &lt;Text style={{ fontSize: 13, color: '#C7D6EE' }}&gt;manhua.py 章节切片教学包&lt;/Text&gt;&#10;  &lt;/Box&gt;&#10;  &lt;Box style={{ flex: 1, flexDirection: 'row', padding: '26px 40px', gap: 28 }}&gt;&#10;    &lt;Box style={{ flex: 1, background: '#F0F5FC', border: '1px solid #D6DCE5', borderRadius: 12, padding: '18px 20px', flexDirection: 'column', gap: 12 }}&gt;&#10;      &lt;Box style={{ flexDirection: 'row', alignItems: 'center', gap: 10 }}&gt;&#10;        &lt;Box style={{ background: '#D9534F', borderRadius: 6, padding: '4px 10px' }}&gt;&#10;          &lt;Text style={{ fontSize: 16, fontWeight: 'bold', color: '#FFFFFF' }}&gt;不推荐&lt;/Text&gt;&#10;        &lt;/Box&gt;&#10;        &lt;Text style={{ fontSize: 22, fontWeight: 'bold', color: '#0E3F8C' }}&gt;字符串拼接（+）&lt;/Text&gt;&#10;      &lt;/Box&gt;&#10;      &lt;CodeBlock&#10;        code={`name = &quot;青瓷茶漏&quot;&#10;selling_point = &quot;过滤细腻&quot;&#10;scene = &quot;北欧客厅场景&quot;&#10;&#10;# 拼接：变量一多就乱，易漏空格/分号&#10;p = &quot;场景=&quot; + scene&#10;p += &quot;；商品名=&quot; + name&#10;p += &quot;；卖点=&quot; + selling_point`}&#10;        language='python'&#10;        width={460}&#10;        fontSize={13}&#10;        theme='github-light'&#10;        background='#FFFFFF'&#10;      /&gt;&#10;    &lt;/Box&gt;&#10;    &lt;Box style={{ flex: 1, background: '#E8EFF8', border: '1px solid #3D7BD9', borderRadius: 12, padding: '18px 20px', flexDirection: 'column', gap: 12 }}&gt;&#10;      &lt;Box style={{ flexDirection: 'row', alignItems: 'center', gap: 10 }}&gt;&#10;        &lt;Box style={{ background: '#1E4FA8', borderRadius: 6, padding: '4px 10px' }}&gt;&#10;          &lt;Text style={{ fontSize: 16, fontWeight: 'bold', color: '#FFFFFF' }}&gt;推荐&lt;/Text&gt;&#10;        &lt;/Box&gt;&#10;        &lt;Text style={{ fontSize: 22, fontWeight: 'bold', color: '#0E3F8C' }}&gt;f-string&lt;/Text&gt;&#10;      &lt;/Box&gt;&#10;      &lt;CodeBlock&#10;        code={`name = &quot;青瓷茶漏&quot;&#10;selling_point = &quot;过滤细腻&quot;&#10;scene = &quot;北欧客厅场景&quot;&#10;&#10;# f-string：变量直接嵌入，可读不易错&#10;prompt = (f&quot;场景={scene}；商品名={name}；&quot;&#10;          f&quot;卖点={selling_point}；真实摄影质感，&quot;&#10;          f&quot;柔和自然光，主体突出&quot;)`}&#10;        language='python'&#10;        width={460}&#10;        fontSize={13}&#10;        theme='github-light'&#10;        background='#FFFFFF'&#10;      /&gt;&#10;    &lt;/Box&gt;&#10;  &lt;/Box&gt;&#10;  &lt;Box style={{ margin: '0 40px 36px 40px', background: '#0E3F8C', borderRadius: 10, padding: '14px 22px' }}&gt;&#10;    &lt;Text style={{ fontSize: 20, color: '#FFFFFF', lineHeight: 1.6 }}&gt;&#10;      记住：漏写 &lt;span style={{ fontWeight: 'bold' }}&gt;f&lt;/span&gt; 前缀，&lt;span style={{ fontWeight: 'bold' }}&gt;{&quot;{场景}&quot;}&lt;/span&gt; 不会替换，会原样输出花括号——这是初学者最高频的错误。&#10;    &lt;/Text&gt;&#10;  &lt;/Box&gt;&#10;  &lt;Box style={{ position: 'absolute', bottom: 0, left: 0, right: 0, height: 34, flexDirection: 'row', alignItems: 'center', justifyContent: 'flex-end', paddingRight: 40 }}&gt;&#10;    &lt;Text style={{ fontSize: 14, color: '#1E4FA8' }}&gt;05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81000" y="142875"/>
            <a:ext cx="3219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核心概念：用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f-string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拼装提示词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0248900" y="190500"/>
            <a:ext cx="1562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7D6EE"/>
                </a:solidFill>
                <a:latin typeface="Microsoft YaHei"/>
                <a:ea typeface="Microsoft YaHei"/>
              </a:rPr>
              <a:t>manhua.py </a:t>
            </a:r>
            <a:r>
              <a:rPr lang="zh-CN" sz="975">
                <a:solidFill>
                  <a:srgbClr val="C7D6EE"/>
                </a:solidFill>
                <a:latin typeface="Microsoft YaHei"/>
                <a:ea typeface="Microsoft YaHei"/>
              </a:rPr>
              <a:t>章节切片教学包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381000" y="781050"/>
            <a:ext cx="5581650" cy="4848225"/>
          </a:xfrm>
          <a:prstGeom prst="roundRect">
            <a:avLst>
              <a:gd name="adj" fmla="val 2358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571500" y="952500"/>
            <a:ext cx="647700" cy="266700"/>
          </a:xfrm>
          <a:prstGeom prst="roundRect">
            <a:avLst>
              <a:gd name="adj" fmla="val 21429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66750" y="9906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不推荐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314450" y="962025"/>
            <a:ext cx="1628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字符串拼接（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+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229350" y="781050"/>
            <a:ext cx="5581650" cy="4848225"/>
          </a:xfrm>
          <a:prstGeom prst="roundRect">
            <a:avLst>
              <a:gd name="adj" fmla="val 2358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6419850" y="952500"/>
            <a:ext cx="495300" cy="266700"/>
          </a:xfrm>
          <a:prstGeom prst="roundRect">
            <a:avLst>
              <a:gd name="adj" fmla="val 2142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515100" y="9906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推荐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010400" y="962025"/>
            <a:ext cx="790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f-string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381000" y="5876925"/>
            <a:ext cx="11430000" cy="638175"/>
          </a:xfrm>
          <a:prstGeom prst="roundRect">
            <a:avLst>
              <a:gd name="adj" fmla="val 1492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90550" y="6010275"/>
            <a:ext cx="11010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记住：漏写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f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前缀，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{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场景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}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不会替换，会原样输出花括号——这是初学者最高频的错误。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571500" y="1333500"/>
            <a:ext cx="5200650" cy="1933575"/>
          </a:xfrm>
          <a:prstGeom prst="roundRect">
            <a:avLst>
              <a:gd name="adj" fmla="val 394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" name=""/>
          <p:cNvSpPr txBox="1"/>
          <p:nvPr/>
        </p:nvSpPr>
        <p:spPr>
          <a:xfrm rot="0" flipH="0" flipV="0">
            <a:off x="723900" y="1466850"/>
            <a:ext cx="4895850" cy="1666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name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"青瓷茶漏"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selling_point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"过滤细腻"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scene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"北欧客厅场景"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拼接：变量一多就乱，易漏空格/分号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p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"场景="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scene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p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"；商品名="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name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p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"；卖点="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selling_point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419850" y="1333500"/>
            <a:ext cx="5200650" cy="1933575"/>
          </a:xfrm>
          <a:prstGeom prst="roundRect">
            <a:avLst>
              <a:gd name="adj" fmla="val 394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" name=""/>
          <p:cNvSpPr txBox="1"/>
          <p:nvPr/>
        </p:nvSpPr>
        <p:spPr>
          <a:xfrm rot="0" flipH="0" flipV="0">
            <a:off x="6572250" y="1466850"/>
            <a:ext cx="4895850" cy="1666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name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"青瓷茶漏"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selling_point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"过滤细腻"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scene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"北欧客厅场景"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f-string：变量直接嵌入，可读不易错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prompt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(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"场景=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scene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；商品名=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name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；"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"卖点=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selling_point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；真实摄影质感，"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"柔和自然光，主体突出"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05 / 09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95" name="" descr="&lt;Slide style={{ width: '1280px', height: '720px', background: '#FFFFFF', padding: 0 }}&gt;&#10;  &lt;Box style={{ height: 56, background: '#0E3F8C', flexDirection: 'row', alignItems: 'center', paddingLeft: 40, paddingRight: 40, justifyContent: 'space-between' }}&gt;&#10;    &lt;Text style={{ fontSize: 22, fontWeight: 'bold', color: '#FFFFFF' }}&gt;母体函数：build_scene_prompt（与源码逐字一致）&lt;/Text&gt;&#10;    &lt;Text style={{ fontSize: 13, color: '#C7D6EE' }}&gt;manhua.py 章节切片教学包&lt;/Text&gt;&#10;  &lt;/Box&gt;&#10;  &lt;Box style={{ flex: 1, flexDirection: 'row', padding: '26px 40px', gap: 28 }}&gt;&#10;    &lt;Box style={{ width: 620, background: '#F0F5FC', border: '1px solid #D6DCE5', borderRadius: 12, padding: '18px 20px', flexDirection: 'column', gap: 12 }}&gt;&#10;      &lt;Text style={{ fontSize: 22, fontWeight: 'bold', color: '#0E3F8C' }}&gt;本节课写的代码（母体）&lt;/Text&gt;&#10;      &lt;CodeBlock&#10;        code={`DEFAULT_SCENES = [&quot;北欧客厅场景&quot;, &quot;办公桌使用场景&quot;, &quot;礼品盒包装场景&quot;]&#10;&#10;def build_scene_prompt(name, selling_point, scene):&#10;    return (&#10;        f&quot;将同一件商品原样放入以下场景，&quot;&#10;        f&quot;商品外观须与白底图完全一致、不可变形变色：&quot;&#10;        f&quot;场景={scene}；商品名={name}；&quot;&#10;        f&quot;卖点={selling_point}；真实摄影质感，&quot;&#10;        f&quot;柔和自然光，主体突出，无文字、无水印、无其他无关物体&quot;&#10;    )`}&#10;        language='python'&#10;        width={440}&#10;        fontSize={13}&#10;        theme='github-light'&#10;        background='#FFFFFF'&#10;      /&gt;&#10;    &lt;/Box&gt;&#10;    &lt;Box style={{ flex: 1, background: '#E8EFF8', border: '1px solid #3D7BD9', borderRadius: 12, padding: '22px 24px', flexDirection: 'column', gap: 14 }}&gt;&#10;      &lt;Text style={{ fontSize: 26, fontWeight: 'bold', color: '#0E3F8C' }}&gt;为什么叫「母体」&lt;/Text&gt;&#10;      &lt;Text style={{ fontSize: 22, color: '#1A2230', lineHeight: 1.75 }}&gt;&#10;        这个函数名、参数、输出，和 &lt;span style={{ fontWeight: 'bold', color: '#1E4FA8' }}&gt;manhua_studio/prompts.py&lt;/span&gt; 里的 build_scene_prompt &lt;span style={{ fontWeight: 'bold' }}&gt;逐字相同&lt;/span&gt;。&#10;      &lt;/Text&gt;&#10;      &lt;Text style={{ fontSize: 22, color: '#1A2230', lineHeight: 1.75 }}&gt;&#10;        综合阶段学生不用重写，直接 &lt;span style={{ fontWeight: 'bold', color: '#1E4FA8' }}&gt;from manhua_studio.prompts import build_scene_prompt&lt;/span&gt; 复用——&lt;span style={{ fontWeight: 'bold' }}&gt;零跳变&lt;/span&gt;。&#10;      &lt;/Text&gt;&#10;      &lt;Text style={{ fontSize: 20, color: '#4A5568', lineHeight: 1.7 }}&gt;&#10;        DEFAULT_SCENES 是默认场景库（S2 展开单元）：一张白底图 → 这几个场景各出一张。&#10;      &lt;/Text&gt;&#10;    &lt;/Box&gt;&#10;  &lt;/Box&gt;&#10;  &lt;Box style={{ position: 'absolute', bottom: 0, left: 0, right: 0, height: 34, flexDirection: 'row', alignItems: 'center', justifyContent: 'flex-end', paddingRight: 40 }}&gt;&#10;    &lt;Text style={{ fontSize: 14, color: '#1E4FA8' }}&gt;06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381000" y="142875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母体函数：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build_scene_prompt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（与源码逐字一致）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0248900" y="190500"/>
            <a:ext cx="1562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7D6EE"/>
                </a:solidFill>
                <a:latin typeface="Microsoft YaHei"/>
                <a:ea typeface="Microsoft YaHei"/>
              </a:rPr>
              <a:t>manhua.py </a:t>
            </a:r>
            <a:r>
              <a:rPr lang="zh-CN" sz="975">
                <a:solidFill>
                  <a:srgbClr val="C7D6EE"/>
                </a:solidFill>
                <a:latin typeface="Microsoft YaHei"/>
                <a:ea typeface="Microsoft YaHei"/>
              </a:rPr>
              <a:t>章节切片教学包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381000" y="781050"/>
            <a:ext cx="5905500" cy="5829300"/>
          </a:xfrm>
          <a:prstGeom prst="roundRect">
            <a:avLst>
              <a:gd name="adj" fmla="val 196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71500" y="952500"/>
            <a:ext cx="5524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本节课写的代码（母体）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553200" y="781050"/>
            <a:ext cx="5257800" cy="5829300"/>
          </a:xfrm>
          <a:prstGeom prst="roundRect">
            <a:avLst>
              <a:gd name="adj" fmla="val 2174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781800" y="990600"/>
            <a:ext cx="4800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为什么叫「母体」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781800" y="1428750"/>
            <a:ext cx="4800600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这个函数名、参数、输出，和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manhua_studio/prompts.py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里的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build_scene_prompt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逐字相同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781800" y="2886075"/>
            <a:ext cx="4800600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综合阶段学生不用重写，直接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from manhua_studio.prompts import build_scene_prompt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复用——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零跳变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781800" y="4343400"/>
            <a:ext cx="48006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DEFAULT_SCENES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是默认场景库（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S2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展开单元）：一张白底图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这几个场景各出一张。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571500" y="1323975"/>
            <a:ext cx="5524500" cy="2352675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/>
          <p:cNvSpPr txBox="1"/>
          <p:nvPr/>
        </p:nvSpPr>
        <p:spPr>
          <a:xfrm rot="0" flipH="0" flipV="0">
            <a:off x="723900" y="1457325"/>
            <a:ext cx="5219700" cy="2085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DEFAULT_SCENES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[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"北欧客厅场景"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"办公桌使用场景"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"礼品盒包装场景"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]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def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build_scene_prompt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(name, selling_point, scene):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(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"将同一件商品原样放入以下场景，"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"商品外观须与白底图完全一致、不可变形变色："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"场景=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scene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；商品名=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name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；"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"卖点=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selling_point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；真实摄影质感，"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"柔和自然光，主体突出，无文字、无水印、无其他无关物体"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)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06 / 09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10" name="" descr="&lt;Slide style={{ width: '1280px', height: '720px', background: '#FFFFFF', padding: 0 }}&gt;&#10;  &lt;Box style={{ height: 56, background: '#0E3F8C', flexDirection: 'row', alignItems: 'center', paddingLeft: 40, paddingRight: 40, justifyContent: 'space-between' }}&gt;&#10;    &lt;Text style={{ fontSize: 22, fontWeight: 'bold', color: '#FFFFFF' }}&gt;学生练习：三道递进任务&lt;/Text&gt;&#10;    &lt;Text style={{ fontSize: 13, color: '#C7D6EE' }}&gt;manhua.py 章节切片教学包&lt;/Text&gt;&#10;  &lt;/Box&gt;&#10;  &lt;Box style={{ flex: 1, flexDirection: 'row', padding: '28px 40px', gap: 24 }}&gt;&#10;    &lt;Box style={{ flex: 1, background: '#F0F5FC', border: '1px solid #D6DCE5', borderRadius: 12, padding: '20px 22px', flexDirection: 'column', gap: 12 }}&gt;&#10;      &lt;Box style={{ flexDirection: 'row', alignItems: 'center', gap: 12 }}&gt;&#10;        &lt;Box style={{ width: 40, height: 40, background: '#0E3F8C', borderRadius: 8, alignItems: 'center', justifyContent: 'center' }}&gt;&#10;          &lt;Text style={{ fontSize: 20, fontWeight: 'bold', color: '#FFFFFF' }}&gt;1&lt;/Text&gt;&#10;        &lt;/Box&gt;&#10;        &lt;Box style={{ background: '#1E4FA8', borderRadius: 6, padding: '3px 9px' }}&gt;&#10;          &lt;Text style={{ fontSize: 15, fontWeight: 'bold', color: '#FFFFFF' }}&gt;必做&lt;/Text&gt;&#10;        &lt;/Box&gt;&#10;      &lt;/Box&gt;&#10;      &lt;Text style={{ fontSize: 22, color: '#1A2230', lineHeight: 1.75 }}&gt;&#10;        给定 name / selling_point / scene，用 f-string 写出 build_scene_prompt 的函数体，并输出一条完整提示词。&#10;      &lt;/Text&gt;&#10;    &lt;/Box&gt;&#10;    &lt;Box style={{ flex: 1, background: '#E8EFF8', border: '1px solid #3D7BD9', borderRadius: 12, padding: '20px 22px', flexDirection: 'column', gap: 12 }}&gt;&#10;      &lt;Box style={{ flexDirection: 'row', alignItems: 'center', gap: 12 }}&gt;&#10;        &lt;Box style={{ width: 40, height: 40, background: '#0E3F8C', borderRadius: 8, alignItems: 'center', justifyContent: 'center' }}&gt;&#10;          &lt;Text style={{ fontSize: 20, fontWeight: 'bold', color: '#FFFFFF' }}&gt;2&lt;/Text&gt;&#10;        &lt;/Box&gt;&#10;        &lt;Box style={{ background: '#1E4FA8', borderRadius: 6, padding: '3px 9px' }}&gt;&#10;          &lt;Text style={{ fontSize: 15, fontWeight: 'bold', color: '#FFFFFF' }}&gt;必做&lt;/Text&gt;&#10;        &lt;/Box&gt;&#10;      &lt;/Box&gt;&#10;      &lt;Text style={{ fontSize: 22, color: '#1A2230', lineHeight: 1.75 }}&gt;&#10;        用 for 循环遍历 DEFAULT_SCENES，为一商品批量生成三条场景提示词（巩固第2/3章学的循环）。&#10;      &lt;/Text&gt;&#10;    &lt;/Box&gt;&#10;    &lt;Box style={{ flex: 1, background: '#F0F5FC', border: '1px solid #D6DCE5', borderRadius: 12, padding: '20px 22px', flexDirection: 'column', gap: 12 }}&gt;&#10;      &lt;Box style={{ flexDirection: 'row', alignItems: 'center', gap: 12 }}&gt;&#10;        &lt;Box style={{ width: 40, height: 40, background: '#8B97A8', borderRadius: 8, alignItems: 'center', justifyContent: 'center' }}&gt;&#10;          &lt;Text style={{ fontSize: 20, fontWeight: 'bold', color: '#FFFFFF' }}&gt;3&lt;/Text&gt;&#10;        &lt;/Box&gt;&#10;        &lt;Box style={{ background: '#8B97A8', borderRadius: 6, padding: '3px 9px' }}&gt;&#10;          &lt;Text style={{ fontSize: 15, fontWeight: 'bold', color: '#FFFFFF' }}&gt;选做&lt;/Text&gt;&#10;        &lt;/Box&gt;&#10;      &lt;/Box&gt;&#10;      &lt;Text style={{ fontSize: 22, color: '#1A2230', lineHeight: 1.75 }}&gt;&#10;        把循环封装成 make_all_prompts(name, selling_point)，返回提示词列表，提升代码复用度。&#10;      &lt;/Text&gt;&#10;    &lt;/Box&gt;&#10;  &lt;/Box&gt;&#10;  &lt;Box style={{ position: 'absolute', bottom: 0, left: 0, right: 0, height: 34, flexDirection: 'row', alignItems: 'center', justifyContent: 'flex-end', paddingRight: 40 }}&gt;&#10;    &lt;Text style={{ fontSize: 14, color: '#1E4FA8' }}&gt;07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381000" y="142875"/>
            <a:ext cx="2305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学生练习：三道递进任务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0248900" y="190500"/>
            <a:ext cx="1562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7D6EE"/>
                </a:solidFill>
                <a:latin typeface="Microsoft YaHei"/>
                <a:ea typeface="Microsoft YaHei"/>
              </a:rPr>
              <a:t>manhua.py </a:t>
            </a:r>
            <a:r>
              <a:rPr lang="zh-CN" sz="975">
                <a:solidFill>
                  <a:srgbClr val="C7D6EE"/>
                </a:solidFill>
                <a:latin typeface="Microsoft YaHei"/>
                <a:ea typeface="Microsoft YaHei"/>
              </a:rPr>
              <a:t>章节切片教学包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381000" y="800100"/>
            <a:ext cx="3657600" cy="5791200"/>
          </a:xfrm>
          <a:prstGeom prst="roundRect">
            <a:avLst>
              <a:gd name="adj" fmla="val 3125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590550" y="9906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23900" y="10668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1085850" y="1066800"/>
            <a:ext cx="457200" cy="22860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171575" y="10953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必做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90550" y="1485900"/>
            <a:ext cx="3238500" cy="1762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给定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name / selling_point / scene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，用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f-string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写出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build_scene_prompt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的函数体，并输出一条完整提示词。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4267200" y="800100"/>
            <a:ext cx="3657600" cy="5791200"/>
          </a:xfrm>
          <a:prstGeom prst="roundRect">
            <a:avLst>
              <a:gd name="adj" fmla="val 3125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4476750" y="9906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610100" y="10668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4972050" y="1066800"/>
            <a:ext cx="457200" cy="22860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057775" y="10953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必做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476750" y="1485900"/>
            <a:ext cx="3238500" cy="1762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用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for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循环遍历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DEFAULT_SCENES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，为一商品批量生成三条场景提示词（巩固第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2/3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章学的循环）。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8153400" y="800100"/>
            <a:ext cx="3657600" cy="5791200"/>
          </a:xfrm>
          <a:prstGeom prst="roundRect">
            <a:avLst>
              <a:gd name="adj" fmla="val 3125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8362950" y="9906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496300" y="10668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8858250" y="1066800"/>
            <a:ext cx="457200" cy="228600"/>
          </a:xfrm>
          <a:prstGeom prst="roundRect">
            <a:avLst>
              <a:gd name="adj" fmla="val 25000"/>
            </a:avLst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943975" y="10953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选做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362950" y="1485900"/>
            <a:ext cx="3238500" cy="1762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把循环封装成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make_all_prompts(name, selling_point)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，返回提示词列表，提升代码复用度。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07 / 09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34" name="" descr="&lt;Slide style={{ width: '1280px', height: '720px', background: '#FFFFFF', padding: 0 }}&gt;&#10;  &lt;Box style={{ height: 56, background: '#0E3F8C', flexDirection: 'row', alignItems: 'center', paddingLeft: 40, paddingRight: 40, justifyContent: 'space-between' }}&gt;&#10;    &lt;Text style={{ fontSize: 22, fontWeight: 'bold', color: '#FFFFFF' }}&gt;验收三档（对照学生指南口径）&lt;/Text&gt;&#10;    &lt;Text style={{ fontSize: 13, color: '#C7D6EE' }}&gt;manhua.py 章节切片教学包&lt;/Text&gt;&#10;  &lt;/Box&gt;&#10;  &lt;Box style={{ flex: 1, flexDirection: 'row', padding: '28px 40px', gap: 24 }}&gt;&#10;    &lt;Box style={{ flex: 1, background: '#F0F5FC', border: '1px solid #D6DCE5', borderRadius: 12, padding: '20px 22px', flexDirection: 'column', gap: 12 }}&gt;&#10;      &lt;Box style={{ flexDirection: 'row', alignItems: 'center', gap: 10 }}&gt;&#10;        &lt;Box style={{ background: '#8B97A8', borderRadius: 6, padding: '4px 12px' }}&gt;&#10;          &lt;Text style={{ fontSize: 20, fontWeight: 'bold', color: '#FFFFFF' }}&gt;合格&lt;/Text&gt;&#10;        &lt;/Box&gt;&#10;      &lt;/Box&gt;&#10;      &lt;Text style={{ fontSize: 22, color: '#1A2230', lineHeight: 1.8 }}&gt;&#10;        能写出 build_scene_prompt，输出字符串包含 name / selling_point / scene 三个变量值；练习1 跑通。&#10;      &lt;/Text&gt;&#10;    &lt;/Box&gt;&#10;    &lt;Box style={{ flex: 1, background: '#E8EFF8', border: '1px solid #3D7BD9', borderRadius: 12, padding: '20px 22px', flexDirection: 'column', gap: 12 }}&gt;&#10;      &lt;Box style={{ flexDirection: 'row', alignItems: 'center', gap: 10 }}&gt;&#10;        &lt;Box style={{ background: '#1E4FA8', borderRadius: 6, padding: '4px 12px' }}&gt;&#10;          &lt;Text style={{ fontSize: 20, fontWeight: 'bold', color: '#FFFFFF' }}&gt;良好&lt;/Text&gt;&#10;        &lt;/Box&gt;&#10;      &lt;/Box&gt;&#10;      &lt;Text style={{ fontSize: 22, color: '#1A2230', lineHeight: 1.8 }}&gt;&#10;        用 f-string 实现（非『+』拼接）；练习2 循环批量生成三条提示词跑通。&#10;      &lt;/Text&gt;&#10;    &lt;/Box&gt;&#10;    &lt;Box style={{ flex: 1, background: '#0E3F8C', borderRadius: 12, padding: '20px 22px', flexDirection: 'column', gap: 12 }}&gt;&#10;      &lt;Box style={{ flexDirection: 'row', alignItems: 'center', gap: 10 }}&gt;&#10;        &lt;Box style={{ background: '#FFC107', borderRadius: 6, padding: '4px 12px' }}&gt;&#10;          &lt;Text style={{ fontSize: 20, fontWeight: 'bold', color: '#0E3F8C' }}&gt;优秀&lt;/Text&gt;&#10;        &lt;/Box&gt;&#10;      &lt;/Box&gt;&#10;      &lt;Text style={{ fontSize: 22, color: '#FFFFFF', lineHeight: 1.8 }}&gt;&#10;        完成练习3 make_all_prompts 返回列表；能口头说明『这个函数综合阶段会被 S2 出图阶段直接调用』。&#10;      &lt;/Text&gt;&#10;    &lt;/Box&gt;&#10;  &lt;/Box&gt;&#10;  &lt;Box style={{ position: 'absolute', bottom: 0, left: 0, right: 0, height: 34, flexDirection: 'row', alignItems: 'center', justifyContent: 'flex-end', paddingRight: 40 }}&gt;&#10;    &lt;Text style={{ fontSize: 14, color: '#1E4FA8' }}&gt;08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381000" y="142875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验收三档（对照学生指南口径）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0248900" y="190500"/>
            <a:ext cx="1562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7D6EE"/>
                </a:solidFill>
                <a:latin typeface="Microsoft YaHei"/>
                <a:ea typeface="Microsoft YaHei"/>
              </a:rPr>
              <a:t>manhua.py </a:t>
            </a:r>
            <a:r>
              <a:rPr lang="zh-CN" sz="975">
                <a:solidFill>
                  <a:srgbClr val="C7D6EE"/>
                </a:solidFill>
                <a:latin typeface="Microsoft YaHei"/>
                <a:ea typeface="Microsoft YaHei"/>
              </a:rPr>
              <a:t>章节切片教学包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381000" y="800100"/>
            <a:ext cx="3657600" cy="5791200"/>
          </a:xfrm>
          <a:prstGeom prst="roundRect">
            <a:avLst>
              <a:gd name="adj" fmla="val 3125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590550" y="9906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04850" y="10287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合格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90550" y="1409700"/>
            <a:ext cx="3238500" cy="1819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能写出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build_scene_prompt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，输出字符串包含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name / selling_point / scene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三个变量值；练习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1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跑通。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4267200" y="800100"/>
            <a:ext cx="3657600" cy="5791200"/>
          </a:xfrm>
          <a:prstGeom prst="roundRect">
            <a:avLst>
              <a:gd name="adj" fmla="val 3125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4476750" y="9906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591050" y="10287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良好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476750" y="1409700"/>
            <a:ext cx="32385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用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f-string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实现（非『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+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』拼接）；练习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2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循环批量生成三条提示词跑通。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8153400" y="800100"/>
            <a:ext cx="3657600" cy="5791200"/>
          </a:xfrm>
          <a:prstGeom prst="roundRect">
            <a:avLst>
              <a:gd name="adj" fmla="val 312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8362950" y="9906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477250" y="10287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优秀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362950" y="1409700"/>
            <a:ext cx="3238500" cy="1819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完成练习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3 make_all_prompts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返回列表；能口头说明『这个函数综合阶段会被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S2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出图阶段直接调用』。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08 / 09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52" name="" descr="&lt;Slide style={{ width: '1280px', height: '720px', background: '#FFFFFF', padding: 0 }}&gt;&#10;  &lt;Box style={{ height: 56, background: '#0E3F8C', flexDirection: 'row', alignItems: 'center', paddingLeft: 40, paddingRight: 40, justifyContent: 'space-between' }}&gt;&#10;    &lt;Text style={{ fontSize: 22, fontWeight: 'bold', color: '#FFFFFF' }}&gt;母体映射与衔接&lt;/Text&gt;&#10;    &lt;Text style={{ fontSize: 13, color: '#C7D6EE' }}&gt;manhua.py 章节切片教学包&lt;/Text&gt;&#10;  &lt;/Box&gt;&#10;  &lt;Box style={{ margin: '26px 40px 0 40px', background: '#0E3F8C', borderRadius: 10, padding: '16px 22px' }}&gt;&#10;    &lt;Text style={{ fontSize: 22, color: '#FFFFFF', lineHeight: 1.6 }}&gt;&#10;      本节课写的 &lt;span style={{ fontWeight: 'bold' }}&gt;build_scene_prompt&lt;/span&gt; = 综合案例的 &lt;span style={{ fontWeight: 'bold' }}&gt;构件2·提示词构建&lt;/span&gt;。第7章把写死的 name / selling_point 换成从文件读的 SKU，提示词照常调用本课函数——学生立刻看到第4章的零件被复用。&#10;    &lt;/Text&gt;&#10;  &lt;/Box&gt;&#10;  &lt;Box style={{ flex: 1, flexDirection: 'row', alignItems: 'center', justifyContent: 'center', padding: '20px 40px', gap: 14 }}&gt;&#10;    {[{ t: '第4章', s: '字符串·构件2' }, { t: '第7章', s: '文件与数据' }, { t: '面向对象', s: 'Product 类' }, { t: '综合', s: 'V1–V5 全管线' }].map((it, i) =&gt; (&#10;      &lt;Box key={i} style={{ flexDirection: 'row', alignItems: 'center', gap: 14 }}&gt;&#10;        &lt;Box style={{ width: 170, height: 96, background: i === 3 ? '#1E4FA8' : '#E8EFF8', border: '1px solid #3D7BD9', borderRadius: 12, alignItems: 'center', justifyContent: 'center', flexDirection: 'column', gap: 6 }}&gt;&#10;          &lt;Text style={{ fontSize: 22, fontWeight: 'bold', color: i === 3 ? '#FFFFFF' : '#0E3F8C' }}&gt;{it.t}&lt;/Text&gt;&#10;          &lt;Text style={{ fontSize: 17, color: i === 3 ? '#FFFFFF' : '#4A5568' }}&gt;{it.s}&lt;/Text&gt;&#10;        &lt;/Box&gt;&#10;        {i &lt; 3 &amp;&amp; &lt;Text style={{ fontSize: 30, fontWeight: 'bold', color: '#1E4FA8' }}&gt;→&lt;/Text&gt;}&#10;      &lt;/Box&gt;&#10;    ))}&#10;  &lt;/Box&gt;&#10;  &lt;Box style={{ margin: '0 40px 34px 40px', background: '#F0F5FC', border: '1px solid #D6DCE5', borderRadius: 10, padding: '14px 22px' }}&gt;&#10;    &lt;Text style={{ fontSize: 20, color: '#4A5568', lineHeight: 1.6 }}&gt;&#10;      真实 API 调用 + .env 密钥，全部推到综合阶段（最后一步才出现），切片阶段零环境依赖。&#10;    &lt;/Text&gt;&#10;  &lt;/Box&gt;&#10;  &lt;Box style={{ position: 'absolute', bottom: 0, left: 0, right: 0, height: 34, flexDirection: 'row', alignItems: 'center', justifyContent: 'flex-end', paddingRight: 40 }}&gt;&#10;    &lt;Text style={{ fontSize: 14, color: '#1E4FA8' }}&gt;09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381000" y="142875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母体映射与衔接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0248900" y="190500"/>
            <a:ext cx="1562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7D6EE"/>
                </a:solidFill>
                <a:latin typeface="Microsoft YaHei"/>
                <a:ea typeface="Microsoft YaHei"/>
              </a:rPr>
              <a:t>manhua.py </a:t>
            </a:r>
            <a:r>
              <a:rPr lang="zh-CN" sz="975">
                <a:solidFill>
                  <a:srgbClr val="C7D6EE"/>
                </a:solidFill>
                <a:latin typeface="Microsoft YaHei"/>
                <a:ea typeface="Microsoft YaHei"/>
              </a:rPr>
              <a:t>章节切片教学包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381000" y="781050"/>
            <a:ext cx="11430000" cy="1114425"/>
          </a:xfrm>
          <a:prstGeom prst="roundRect">
            <a:avLst>
              <a:gd name="adj" fmla="val 854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90550" y="933450"/>
            <a:ext cx="110109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本节课写的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build_scene_prompt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=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综合案例的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构件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2·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提示词构建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。第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章把写死的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name / selling_point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换成从文件读的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SKU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，提示词照常调用本课函数——学生立刻看到第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章的零件被复用。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2028825" y="3438525"/>
            <a:ext cx="1619250" cy="9144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2562225" y="3638550"/>
            <a:ext cx="552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4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2362200" y="3952875"/>
            <a:ext cx="95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字符串·构件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3781425" y="372427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1E4F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4200525" y="3438525"/>
            <a:ext cx="1619250" cy="9144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733925" y="3638550"/>
            <a:ext cx="552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7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610100" y="39528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文件与数据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953125" y="372427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1E4F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6372225" y="3438525"/>
            <a:ext cx="1619250" cy="9144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762750" y="36385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面向对象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772275" y="3952875"/>
            <a:ext cx="819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Product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124825" y="372427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1E4F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8543925" y="3438525"/>
            <a:ext cx="1619250" cy="9144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9144000" y="36385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综合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839200" y="3952875"/>
            <a:ext cx="1038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V1–V5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全管线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381000" y="5895975"/>
            <a:ext cx="11430000" cy="638175"/>
          </a:xfrm>
          <a:prstGeom prst="roundRect">
            <a:avLst>
              <a:gd name="adj" fmla="val 14925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90550" y="6029325"/>
            <a:ext cx="11010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真实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API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调用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+ .env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密钥，全部推到综合阶段（最后一步才出现），切片阶段零环境依赖。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09 / 09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2026-10-07T20:24:02Z</dcterms:created>
  <dcterms:modified xsi:type="dcterms:W3CDTF">2026-10-07T20:24:02Z</dcterms:modified>
</cp:coreProperties>
</file>