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slides/slide7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s/slide6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1" Type="http://schemas.openxmlformats.org/package/2006/relationships/metadata/core-properties" Target="docProps/core.xml" /><Relationship Id="rId0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">
  <p:sldMasterIdLst>
    <p:sldMasterId id="2147483648" r:id="rId0"/>
  </p:sldMasterIdLst>
  <p:notesMasterIdLst>
    <p:notesMasterId r:id="rId10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9" Type="http://schemas.openxmlformats.org/officeDocument/2006/relationships/slide" Target="slides/slide9.xml" /><Relationship Id="rId8" Type="http://schemas.openxmlformats.org/officeDocument/2006/relationships/slide" Target="slides/slide8.xml" /><Relationship Id="rId7" Type="http://schemas.openxmlformats.org/officeDocument/2006/relationships/slide" Target="slides/slide7.xml" /><Relationship Id="rId6" Type="http://schemas.openxmlformats.org/officeDocument/2006/relationships/slide" Target="slides/slide6.xml" /><Relationship Id="rId11" Type="http://schemas.openxmlformats.org/officeDocument/2006/relationships/presProps" Target="presProps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3" Type="http://schemas.openxmlformats.org/officeDocument/2006/relationships/slide" Target="slides/slide3.xml" /><Relationship Id="rId13" Type="http://schemas.openxmlformats.org/officeDocument/2006/relationships/viewProps" Target="viewProps.xml" /><Relationship Id="rId12" Type="http://schemas.openxmlformats.org/officeDocument/2006/relationships/tableStyles" Target="tableStyles.xml" /><Relationship Id="rId2" Type="http://schemas.openxmlformats.org/officeDocument/2006/relationships/slide" Target="slides/slide2.xml" /><Relationship Id="rId1" Type="http://schemas.openxmlformats.org/officeDocument/2006/relationships/slide" Target="slides/slide1.xml" /><Relationship Id="rId10" Type="http://schemas.openxmlformats.org/officeDocument/2006/relationships/notesMaster" Target="notesMasters/notesMaster1.xml" /><Relationship Id="rId0" Type="http://schemas.openxmlformats.org/officeDocument/2006/relationships/slideMaster" Target="slideMasters/slideMaster1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 /><Relationship Id="rId0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 descr="&lt;Slide style={{ width: '1280px', height: '720px', background: '#FFFFFF', padding: 0 }}&gt;&#10;  &lt;Box style={{ height: 72, background: '#0E3F8C', flexDirection: 'row', alignItems: 'center', paddingLeft: 40 }}&gt;&#10;    &lt;Text style={{ fontSize: 24, fontWeight: 'bold', color: '#FFFFFF' }}&gt;第4章 · 案例实训&lt;/Text&gt;&#10;  &lt;/Box&gt;&#10;  &lt;Box style={{ flex: 1, flexDirection: 'column', justifyContent: 'center', padding: '0 72px', gap: 22 }}&gt;&#10;    &lt;Text style={{ fontSize: 46, fontWeight: 'bold', color: '#0E3F8C' }}&gt;用字符串拼出 AI 出图提示词&lt;/Text&gt;&#10;    &lt;Text style={{ fontSize: 22, color: '#475569' }}&gt;manhua 综合案例 · 第4章切片（字符串）&lt;/Text&gt;&#10;    &lt;Text style={{ fontSize: 16, color: '#64748B' }}&gt;学完原教材本章后，用这份实训单完成案例编码&lt;/Text&gt;&#10;  &lt;/Box&gt;&#10;  &lt;Box style={{ position: 'absolute', bottom: 0, left: 0, right: 0, height: 34, flexDirection: 'row', alignItems: 'center', justifyContent: 'flex-end', paddingRight: 40 }}&gt;&#10;    &lt;Text style={{ fontSize: 14, color: '#1E4FA8' }}&gt;01 / 09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381000" y="209550"/>
            <a:ext cx="17526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80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  <a:r>
              <a:rPr lang="zh-CN" sz="1800" b="1">
                <a:solidFill>
                  <a:srgbClr val="FFFFFF"/>
                </a:solidFill>
                <a:latin typeface="Microsoft YaHei"/>
                <a:ea typeface="Microsoft YaHei"/>
              </a:rPr>
              <a:t>章</a:t>
            </a:r>
            <a:r>
              <a:rPr lang="en-US" sz="1800" b="1">
                <a:solidFill>
                  <a:srgbClr val="FFFFFF"/>
                </a:solidFill>
                <a:latin typeface="Microsoft YaHei"/>
                <a:ea typeface="Microsoft YaHei"/>
              </a:rPr>
              <a:t> · </a:t>
            </a:r>
            <a:r>
              <a:rPr lang="zh-CN" sz="1800" b="1">
                <a:solidFill>
                  <a:srgbClr val="FFFFFF"/>
                </a:solidFill>
                <a:latin typeface="Microsoft YaHei"/>
                <a:ea typeface="Microsoft YaHei"/>
              </a:rPr>
              <a:t>案例实训</a:t>
            </a:r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685800" y="3076575"/>
            <a:ext cx="10820400" cy="533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450" b="1">
                <a:solidFill>
                  <a:srgbClr val="0E3F8C"/>
                </a:solidFill>
                <a:latin typeface="Microsoft YaHei"/>
                <a:ea typeface="Microsoft YaHei"/>
              </a:rPr>
              <a:t>用字符串拼出</a:t>
            </a:r>
            <a:r>
              <a:rPr lang="en-US" sz="3450" b="1">
                <a:solidFill>
                  <a:srgbClr val="0E3F8C"/>
                </a:solidFill>
                <a:latin typeface="Microsoft YaHei"/>
                <a:ea typeface="Microsoft YaHei"/>
              </a:rPr>
              <a:t> AI </a:t>
            </a:r>
            <a:r>
              <a:rPr lang="zh-CN" sz="3450" b="1">
                <a:solidFill>
                  <a:srgbClr val="0E3F8C"/>
                </a:solidFill>
                <a:latin typeface="Microsoft YaHei"/>
                <a:ea typeface="Microsoft YaHei"/>
              </a:rPr>
              <a:t>出图提示词</a:t>
            </a:r>
            <a:endParaRPr/>
          </a:p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685800" y="3819525"/>
            <a:ext cx="108204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>
                <a:solidFill>
                  <a:srgbClr val="475569"/>
                </a:solidFill>
                <a:latin typeface="Microsoft YaHei"/>
                <a:ea typeface="Microsoft YaHei"/>
              </a:rPr>
              <a:t>manhua </a:t>
            </a:r>
            <a:r>
              <a:rPr lang="zh-CN" sz="1650">
                <a:solidFill>
                  <a:srgbClr val="475569"/>
                </a:solidFill>
                <a:latin typeface="Microsoft YaHei"/>
                <a:ea typeface="Microsoft YaHei"/>
              </a:rPr>
              <a:t>综合案例</a:t>
            </a:r>
            <a:r>
              <a:rPr lang="en-US" sz="1650">
                <a:solidFill>
                  <a:srgbClr val="475569"/>
                </a:solidFill>
                <a:latin typeface="Microsoft YaHei"/>
                <a:ea typeface="Microsoft YaHei"/>
              </a:rPr>
              <a:t> · </a:t>
            </a:r>
            <a:r>
              <a:rPr lang="zh-CN" sz="1650">
                <a:solidFill>
                  <a:srgbClr val="475569"/>
                </a:solidFill>
                <a:latin typeface="Microsoft YaHei"/>
                <a:ea typeface="Microsoft YaHei"/>
              </a:rPr>
              <a:t>第</a:t>
            </a:r>
            <a:r>
              <a:rPr lang="en-US" sz="1650">
                <a:solidFill>
                  <a:srgbClr val="475569"/>
                </a:solidFill>
                <a:latin typeface="Microsoft YaHei"/>
                <a:ea typeface="Microsoft YaHei"/>
              </a:rPr>
              <a:t>4</a:t>
            </a:r>
            <a:r>
              <a:rPr lang="zh-CN" sz="1650">
                <a:solidFill>
                  <a:srgbClr val="475569"/>
                </a:solidFill>
                <a:latin typeface="Microsoft YaHei"/>
                <a:ea typeface="Microsoft YaHei"/>
              </a:rPr>
              <a:t>章切片（字符串）</a:t>
            </a:r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685800" y="4286250"/>
            <a:ext cx="10820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学完原教材本章后，用这份实训单完成案例编码</a:t>
            </a:r>
            <a:endParaRPr/>
          </a:p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11353800" y="66198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E4FA8"/>
                </a:solidFill>
                <a:latin typeface="Microsoft YaHei"/>
                <a:ea typeface="Microsoft YaHei"/>
              </a:rPr>
              <a:t>01 / 09</a:t>
            </a:r>
            <a:endParaRPr/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9" name="" descr="&lt;Slide style={{ width: '1280px', height: '720px', background: '#FFFFFF', padding: 0 }}&gt;&#10;  &lt;Box style={{ height: 56, background: '#0E3F8C', flexDirection: 'row', alignItems: 'center', paddingLeft: 40 }}&gt;&#10;    &lt;Text style={{ fontSize: 20, fontWeight: 'bold', color: '#FFFFFF' }}&gt;你要完成什么&lt;/Text&gt;&#10;  &lt;/Box&gt;&#10;  &lt;Box style={{ flex: 1, flexDirection: 'column', justifyContent: 'center', padding: '0 64px', gap: 24 }}&gt;&#10;    &lt;Box style={{ background: '#F0F5FC', border: '1px solid #D6DCE5', borderRadius: 12, padding: '20px 24px', flexDirection: 'column', gap: 8 }}&gt;&#10;      &lt;Text style={{ fontSize: 22, fontWeight: 'bold', color: '#1E4FA8' }}&gt;任务 A · 单条提示词（必做）&lt;/Text&gt;&#10;      &lt;Text style={{ fontSize: 17, color: '#334155' }}&gt;给定「商品名」和「卖点」，用 f-string 拼出一段提示词字符串并打印。&lt;/Text&gt;&#10;    &lt;/Box&gt;&#10;    &lt;Box style={{ background: '#F0F5FC', border: '1px solid #D6DCE5', borderRadius: 12, padding: '20px 24px', flexDirection: 'column', gap: 8 }}&gt;&#10;      &lt;Text style={{ fontSize: 22, fontWeight: 'bold', color: '#1E4FA8' }}&gt;任务 B · 批量提示词（必做）&lt;/Text&gt;&#10;      &lt;Text style={{ fontSize: 17, color: '#334155' }}&gt;用循环为 3 个场景各生成一条提示词，共输出 3 条。&lt;/Text&gt;&#10;    &lt;/Box&gt;&#10;    &lt;Text style={{ fontSize: 15, color: '#64748B' }}&gt;这些提示词之后会送进出图模型——但联网 / 配 key 留到综合阶段，本章只练字符串拼接。&lt;/Text&gt;&#10;  &lt;/Box&gt;&#10;  &lt;Box style={{ position: 'absolute', bottom: 0, left: 0, right: 0, height: 34, flexDirection: 'row', alignItems: 'center', justifyContent: 'flex-end', paddingRight: 40 }}&gt;&#10;    &lt;Text style={{ fontSize: 14, color: '#1E4FA8' }}&gt;02 / 09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"/>
          <p:cNvSpPr/>
          <p:nvPr/>
        </p:nvSpPr>
        <p:spPr>
          <a:xfrm rot="0" flipH="0" flipV="0">
            <a:off x="0" y="0"/>
            <a:ext cx="12192000" cy="5334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381000" y="152400"/>
            <a:ext cx="1143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你要完成什么</a:t>
            </a:r>
            <a:endParaRPr/>
          </a:p>
        </p:txBody>
      </p:sp>
      <p:sp>
        <p:nvSpPr>
          <p:cNvPr id="13" name=""/>
          <p:cNvSpPr/>
          <p:nvPr/>
        </p:nvSpPr>
        <p:spPr>
          <a:xfrm rot="0" flipH="0" flipV="0">
            <a:off x="609600" y="2466975"/>
            <a:ext cx="10972800" cy="914400"/>
          </a:xfrm>
          <a:prstGeom prst="roundRect">
            <a:avLst>
              <a:gd name="adj" fmla="val 12500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838200" y="2657475"/>
            <a:ext cx="105156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E4FA8"/>
                </a:solidFill>
                <a:latin typeface="Microsoft YaHei"/>
                <a:ea typeface="Microsoft YaHei"/>
              </a:rPr>
              <a:t>任务</a:t>
            </a:r>
            <a:r>
              <a:rPr lang="en-US" sz="1650" b="1">
                <a:solidFill>
                  <a:srgbClr val="1E4FA8"/>
                </a:solidFill>
                <a:latin typeface="Microsoft YaHei"/>
                <a:ea typeface="Microsoft YaHei"/>
              </a:rPr>
              <a:t> A · </a:t>
            </a:r>
            <a:r>
              <a:rPr lang="zh-CN" sz="1650" b="1">
                <a:solidFill>
                  <a:srgbClr val="1E4FA8"/>
                </a:solidFill>
                <a:latin typeface="Microsoft YaHei"/>
                <a:ea typeface="Microsoft YaHei"/>
              </a:rPr>
              <a:t>单条提示词（必做）</a:t>
            </a:r>
            <a:endParaRPr/>
          </a:p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838200" y="2990850"/>
            <a:ext cx="105156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334155"/>
                </a:solidFill>
                <a:latin typeface="Microsoft YaHei"/>
                <a:ea typeface="Microsoft YaHei"/>
              </a:rPr>
              <a:t>给定「商品名」和「卖点」，用</a:t>
            </a:r>
            <a:r>
              <a:rPr lang="en-US" sz="1275">
                <a:solidFill>
                  <a:srgbClr val="334155"/>
                </a:solidFill>
                <a:latin typeface="Microsoft YaHei"/>
                <a:ea typeface="Microsoft YaHei"/>
              </a:rPr>
              <a:t> f-string </a:t>
            </a:r>
            <a:r>
              <a:rPr lang="zh-CN" sz="1275">
                <a:solidFill>
                  <a:srgbClr val="334155"/>
                </a:solidFill>
                <a:latin typeface="Microsoft YaHei"/>
                <a:ea typeface="Microsoft YaHei"/>
              </a:rPr>
              <a:t>拼出一段提示词字符串并打印。</a:t>
            </a:r>
            <a:endParaRPr/>
          </a:p>
        </p:txBody>
      </p:sp>
      <p:sp>
        <p:nvSpPr>
          <p:cNvPr id="16" name=""/>
          <p:cNvSpPr/>
          <p:nvPr/>
        </p:nvSpPr>
        <p:spPr>
          <a:xfrm rot="0" flipH="0" flipV="0">
            <a:off x="609600" y="3609975"/>
            <a:ext cx="10972800" cy="914400"/>
          </a:xfrm>
          <a:prstGeom prst="roundRect">
            <a:avLst>
              <a:gd name="adj" fmla="val 12500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838200" y="3800475"/>
            <a:ext cx="105156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E4FA8"/>
                </a:solidFill>
                <a:latin typeface="Microsoft YaHei"/>
                <a:ea typeface="Microsoft YaHei"/>
              </a:rPr>
              <a:t>任务</a:t>
            </a:r>
            <a:r>
              <a:rPr lang="en-US" sz="1650" b="1">
                <a:solidFill>
                  <a:srgbClr val="1E4FA8"/>
                </a:solidFill>
                <a:latin typeface="Microsoft YaHei"/>
                <a:ea typeface="Microsoft YaHei"/>
              </a:rPr>
              <a:t> B · </a:t>
            </a:r>
            <a:r>
              <a:rPr lang="zh-CN" sz="1650" b="1">
                <a:solidFill>
                  <a:srgbClr val="1E4FA8"/>
                </a:solidFill>
                <a:latin typeface="Microsoft YaHei"/>
                <a:ea typeface="Microsoft YaHei"/>
              </a:rPr>
              <a:t>批量提示词（必做）</a:t>
            </a:r>
            <a:endParaRPr/>
          </a:p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838200" y="4133850"/>
            <a:ext cx="105156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334155"/>
                </a:solidFill>
                <a:latin typeface="Microsoft YaHei"/>
                <a:ea typeface="Microsoft YaHei"/>
              </a:rPr>
              <a:t>用循环为</a:t>
            </a:r>
            <a:r>
              <a:rPr lang="en-US" sz="1275">
                <a:solidFill>
                  <a:srgbClr val="334155"/>
                </a:solidFill>
                <a:latin typeface="Microsoft YaHei"/>
                <a:ea typeface="Microsoft YaHei"/>
              </a:rPr>
              <a:t> 3 </a:t>
            </a:r>
            <a:r>
              <a:rPr lang="zh-CN" sz="1275">
                <a:solidFill>
                  <a:srgbClr val="334155"/>
                </a:solidFill>
                <a:latin typeface="Microsoft YaHei"/>
                <a:ea typeface="Microsoft YaHei"/>
              </a:rPr>
              <a:t>个场景各生成一条提示词，共输出</a:t>
            </a:r>
            <a:r>
              <a:rPr lang="en-US" sz="1275">
                <a:solidFill>
                  <a:srgbClr val="334155"/>
                </a:solidFill>
                <a:latin typeface="Microsoft YaHei"/>
                <a:ea typeface="Microsoft YaHei"/>
              </a:rPr>
              <a:t> 3 </a:t>
            </a:r>
            <a:r>
              <a:rPr lang="zh-CN" sz="1275">
                <a:solidFill>
                  <a:srgbClr val="334155"/>
                </a:solidFill>
                <a:latin typeface="Microsoft YaHei"/>
                <a:ea typeface="Microsoft YaHei"/>
              </a:rPr>
              <a:t>条。</a:t>
            </a:r>
            <a:endParaRPr/>
          </a:p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609600" y="4752975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这些提示词之后会送进出图模型——但联网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 /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配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 key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留到综合阶段，本章只练字符串拼接。</a:t>
            </a:r>
            <a:endParaRPr/>
          </a:p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11353800" y="66198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E4FA8"/>
                </a:solidFill>
                <a:latin typeface="Microsoft YaHei"/>
                <a:ea typeface="Microsoft YaHei"/>
              </a:rPr>
              <a:t>02 / 09</a:t>
            </a:r>
            <a:endParaRPr/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>
  <p:cSld>
    <p:spTree>
      <p:nvGrpSpPr>
        <p:cNvPr id="21" name="" descr="&lt;Slide style={{ width: '1280px', height: '720px', background: '#FFFFFF', padding: 0 }}&gt;&#10;  &lt;Box style={{ height: 56, background: '#0E3F8C', flexDirection: 'row', alignItems: 'center', paddingLeft: 40 }}&gt;&#10;    &lt;Text style={{ fontSize: 20, fontWeight: 'bold', color: '#FFFFFF' }}&gt;你要用的知识（参考）&lt;/Text&gt;&#10;  &lt;/Box&gt;&#10;  &lt;Box style={{ flex: 1, flexDirection: 'row', padding: '40px 56px', gap: 40 }}&gt;&#10;    &lt;Box style={{ flex: 1, flexDirection: 'column', gap: 12 }}&gt;&#10;      &lt;Text style={{ fontSize: 18, fontWeight: 'bold', color: '#1E4FA8' }}&gt;① 字符串格式化&lt;/Text&gt;&#10;      &lt;CodeBlock&#10;        code={`# 写法一：拼接（易漏空格/分号）&#10;p = &quot;场景=&quot; + scene + &quot;；商品=&quot; + name&#10;&#10;# 写法二：f-string（推荐）&#10;p = f&quot;场景={scene}；商品={name}&quot;`}&#10;        language='python'&#10;        width={500}&#10;        fontSize={15}&#10;      /&gt;&#10;    &lt;/Box&gt;&#10;    &lt;Box style={{ flex: 1, flexDirection: 'column', gap: 12 }}&gt;&#10;      &lt;Text style={{ fontSize: 18, fontWeight: 'bold', color: '#1E4FA8' }}&gt;② 列表与循环&lt;/Text&gt;&#10;      &lt;CodeBlock&#10;        code={`# 场景列表&#10;scenes = [&quot;客厅&quot;, &quot;办公桌&quot;, &quot;礼盒&quot;]&#10;&#10;# 遍历每个场景&#10;for s in scenes:&#10;    print(build_prompt(name, sp, s))`}&#10;        language='python'&#10;        width={500}&#10;        fontSize={15}&#10;      /&gt;&#10;    &lt;/Box&gt;&#10;  &lt;/Box&gt;&#10;  &lt;Box style={{ position: 'absolute', bottom: 0, left: 0, right: 0, height: 34, flexDirection: 'row', alignItems: 'center', justifyContent: 'flex-end', paddingRight: 40 }}&gt;&#10;    &lt;Text style={{ fontSize: 14, color: '#1E4FA8' }}&gt;03 / 09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3" name=""/>
          <p:cNvSpPr/>
          <p:nvPr/>
        </p:nvSpPr>
        <p:spPr>
          <a:xfrm rot="0" flipH="0" flipV="0">
            <a:off x="0" y="0"/>
            <a:ext cx="12192000" cy="5334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381000" y="152400"/>
            <a:ext cx="1905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你要用的知识（参考）</a:t>
            </a:r>
            <a:endParaRPr/>
          </a:p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533400" y="914400"/>
            <a:ext cx="53721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1E4FA8"/>
                </a:solidFill>
                <a:latin typeface="Microsoft YaHei"/>
                <a:ea typeface="Microsoft YaHei"/>
              </a:rPr>
              <a:t>① </a:t>
            </a:r>
            <a:r>
              <a:rPr lang="zh-CN" sz="1350" b="1">
                <a:solidFill>
                  <a:srgbClr val="1E4FA8"/>
                </a:solidFill>
                <a:latin typeface="Microsoft YaHei"/>
                <a:ea typeface="Microsoft YaHei"/>
              </a:rPr>
              <a:t>字符串格式化</a:t>
            </a:r>
            <a:endParaRPr/>
          </a:p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6286500" y="914400"/>
            <a:ext cx="53721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1E4FA8"/>
                </a:solidFill>
                <a:latin typeface="Microsoft YaHei"/>
                <a:ea typeface="Microsoft YaHei"/>
              </a:rPr>
              <a:t>② </a:t>
            </a:r>
            <a:r>
              <a:rPr lang="zh-CN" sz="1350" b="1">
                <a:solidFill>
                  <a:srgbClr val="1E4FA8"/>
                </a:solidFill>
                <a:latin typeface="Microsoft YaHei"/>
                <a:ea typeface="Microsoft YaHei"/>
              </a:rPr>
              <a:t>列表与循环</a:t>
            </a:r>
            <a:endParaRPr/>
          </a:p>
        </p:txBody>
      </p:sp>
      <p:sp>
        <p:nvSpPr>
          <p:cNvPr id="27" name=""/>
          <p:cNvSpPr/>
          <p:nvPr/>
        </p:nvSpPr>
        <p:spPr>
          <a:xfrm rot="0" flipH="0" flipV="0">
            <a:off x="533400" y="1238250"/>
            <a:ext cx="5372100" cy="1466850"/>
          </a:xfrm>
          <a:prstGeom prst="roundRect">
            <a:avLst>
              <a:gd name="adj" fmla="val 5195"/>
            </a:avLst>
          </a:prstGeom>
          <a:solidFill>
            <a:srgbClr val="F6F8FA"/>
          </a:solidFill>
          <a:ln/>
        </p:spPr>
        <p:txBody>
          <a:bodyPr/>
          <a:p/>
        </p:txBody>
      </p:sp>
      <p:sp>
        <p:nvSpPr>
          <p:cNvPr id="28" name=""/>
          <p:cNvSpPr txBox="1"/>
          <p:nvPr/>
        </p:nvSpPr>
        <p:spPr>
          <a:xfrm rot="0" flipH="0" flipV="0">
            <a:off x="685800" y="1371600"/>
            <a:ext cx="5067300" cy="1200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sz="1125">
                <a:solidFill>
                  <a:srgbClr val="6A737D"/>
                </a:solidFill>
                <a:latin typeface="Menlo"/>
                <a:ea typeface="Menlo"/>
              </a:rPr>
              <a:t># 写法一：拼接（易漏空格/分号）</a:t>
            </a:r>
            <a:endParaRPr/>
          </a:p>
          <a:p>
            <a:pPr>
              <a:lnSpc>
                <a:spcPct val="140000"/>
              </a:lnSpc>
            </a:pPr>
            <a:r>
              <a:rPr sz="1125">
                <a:solidFill>
                  <a:srgbClr val="24292E"/>
                </a:solidFill>
                <a:latin typeface="Menlo"/>
                <a:ea typeface="Menlo"/>
              </a:rPr>
              <a:t>p </a:t>
            </a:r>
            <a:r>
              <a:rPr sz="1125">
                <a:solidFill>
                  <a:srgbClr val="D73A49"/>
                </a:solidFill>
                <a:latin typeface="Menlo"/>
                <a:ea typeface="Menlo"/>
              </a:rPr>
              <a:t>=</a:t>
            </a:r>
            <a:r>
              <a:rPr sz="1125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1125">
                <a:solidFill>
                  <a:srgbClr val="032F62"/>
                </a:solidFill>
                <a:latin typeface="Menlo"/>
                <a:ea typeface="Menlo"/>
              </a:rPr>
              <a:t>"场景="</a:t>
            </a:r>
            <a:r>
              <a:rPr sz="1125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1125">
                <a:solidFill>
                  <a:srgbClr val="D73A49"/>
                </a:solidFill>
                <a:latin typeface="Menlo"/>
                <a:ea typeface="Menlo"/>
              </a:rPr>
              <a:t>+</a:t>
            </a:r>
            <a:r>
              <a:rPr sz="1125">
                <a:solidFill>
                  <a:srgbClr val="24292E"/>
                </a:solidFill>
                <a:latin typeface="Menlo"/>
                <a:ea typeface="Menlo"/>
              </a:rPr>
              <a:t> scene </a:t>
            </a:r>
            <a:r>
              <a:rPr sz="1125">
                <a:solidFill>
                  <a:srgbClr val="D73A49"/>
                </a:solidFill>
                <a:latin typeface="Menlo"/>
                <a:ea typeface="Menlo"/>
              </a:rPr>
              <a:t>+</a:t>
            </a:r>
            <a:r>
              <a:rPr sz="1125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1125">
                <a:solidFill>
                  <a:srgbClr val="032F62"/>
                </a:solidFill>
                <a:latin typeface="Menlo"/>
                <a:ea typeface="Menlo"/>
              </a:rPr>
              <a:t>"；商品="</a:t>
            </a:r>
            <a:r>
              <a:rPr sz="1125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1125">
                <a:solidFill>
                  <a:srgbClr val="D73A49"/>
                </a:solidFill>
                <a:latin typeface="Menlo"/>
                <a:ea typeface="Menlo"/>
              </a:rPr>
              <a:t>+</a:t>
            </a:r>
            <a:r>
              <a:rPr sz="1125">
                <a:solidFill>
                  <a:srgbClr val="24292E"/>
                </a:solidFill>
                <a:latin typeface="Menlo"/>
                <a:ea typeface="Menlo"/>
              </a:rPr>
              <a:t> name</a:t>
            </a:r>
            <a:endParaRPr/>
          </a:p>
          <a:p>
            <a:pPr>
              <a:lnSpc>
                <a:spcPct val="140000"/>
              </a:lnSpc>
            </a:pPr>
            <a:r>
              <a:rPr sz="1125">
                <a:solidFill>
                  <a:srgbClr val="E5E7EB"/>
                </a:solidFill>
                <a:latin typeface="Menlo"/>
                <a:ea typeface="Menlo"/>
              </a:rPr>
              <a:t> </a:t>
            </a:r>
            <a:endParaRPr/>
          </a:p>
          <a:p>
            <a:pPr>
              <a:lnSpc>
                <a:spcPct val="140000"/>
              </a:lnSpc>
            </a:pPr>
            <a:r>
              <a:rPr sz="1125">
                <a:solidFill>
                  <a:srgbClr val="6A737D"/>
                </a:solidFill>
                <a:latin typeface="Menlo"/>
                <a:ea typeface="Menlo"/>
              </a:rPr>
              <a:t># 写法二：f-string（推荐）</a:t>
            </a:r>
            <a:endParaRPr/>
          </a:p>
          <a:p>
            <a:pPr>
              <a:lnSpc>
                <a:spcPct val="140000"/>
              </a:lnSpc>
            </a:pPr>
            <a:r>
              <a:rPr sz="1125">
                <a:solidFill>
                  <a:srgbClr val="24292E"/>
                </a:solidFill>
                <a:latin typeface="Menlo"/>
                <a:ea typeface="Menlo"/>
              </a:rPr>
              <a:t>p </a:t>
            </a:r>
            <a:r>
              <a:rPr sz="1125">
                <a:solidFill>
                  <a:srgbClr val="D73A49"/>
                </a:solidFill>
                <a:latin typeface="Menlo"/>
                <a:ea typeface="Menlo"/>
              </a:rPr>
              <a:t>=</a:t>
            </a:r>
            <a:r>
              <a:rPr sz="1125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1125">
                <a:solidFill>
                  <a:srgbClr val="D73A49"/>
                </a:solidFill>
                <a:latin typeface="Menlo"/>
                <a:ea typeface="Menlo"/>
              </a:rPr>
              <a:t>f</a:t>
            </a:r>
            <a:r>
              <a:rPr sz="1125">
                <a:solidFill>
                  <a:srgbClr val="032F62"/>
                </a:solidFill>
                <a:latin typeface="Menlo"/>
                <a:ea typeface="Menlo"/>
              </a:rPr>
              <a:t>"场景=</a:t>
            </a:r>
            <a:r>
              <a:rPr sz="1125">
                <a:solidFill>
                  <a:srgbClr val="005CC5"/>
                </a:solidFill>
                <a:latin typeface="Menlo"/>
                <a:ea typeface="Menlo"/>
              </a:rPr>
              <a:t>{</a:t>
            </a:r>
            <a:r>
              <a:rPr sz="1125">
                <a:solidFill>
                  <a:srgbClr val="24292E"/>
                </a:solidFill>
                <a:latin typeface="Menlo"/>
                <a:ea typeface="Menlo"/>
              </a:rPr>
              <a:t>scene</a:t>
            </a:r>
            <a:r>
              <a:rPr sz="1125">
                <a:solidFill>
                  <a:srgbClr val="005CC5"/>
                </a:solidFill>
                <a:latin typeface="Menlo"/>
                <a:ea typeface="Menlo"/>
              </a:rPr>
              <a:t>}</a:t>
            </a:r>
            <a:r>
              <a:rPr sz="1125">
                <a:solidFill>
                  <a:srgbClr val="032F62"/>
                </a:solidFill>
                <a:latin typeface="Menlo"/>
                <a:ea typeface="Menlo"/>
              </a:rPr>
              <a:t>；商品=</a:t>
            </a:r>
            <a:r>
              <a:rPr sz="1125">
                <a:solidFill>
                  <a:srgbClr val="005CC5"/>
                </a:solidFill>
                <a:latin typeface="Menlo"/>
                <a:ea typeface="Menlo"/>
              </a:rPr>
              <a:t>{</a:t>
            </a:r>
            <a:r>
              <a:rPr sz="1125">
                <a:solidFill>
                  <a:srgbClr val="24292E"/>
                </a:solidFill>
                <a:latin typeface="Menlo"/>
                <a:ea typeface="Menlo"/>
              </a:rPr>
              <a:t>name</a:t>
            </a:r>
            <a:r>
              <a:rPr sz="1125">
                <a:solidFill>
                  <a:srgbClr val="005CC5"/>
                </a:solidFill>
                <a:latin typeface="Menlo"/>
                <a:ea typeface="Menlo"/>
              </a:rPr>
              <a:t>}</a:t>
            </a:r>
            <a:r>
              <a:rPr sz="1125">
                <a:solidFill>
                  <a:srgbClr val="032F62"/>
                </a:solidFill>
                <a:latin typeface="Menlo"/>
                <a:ea typeface="Menlo"/>
              </a:rPr>
              <a:t>"</a:t>
            </a:r>
            <a:endParaRPr/>
          </a:p>
        </p:txBody>
      </p:sp>
      <p:sp>
        <p:nvSpPr>
          <p:cNvPr id="29" name=""/>
          <p:cNvSpPr/>
          <p:nvPr/>
        </p:nvSpPr>
        <p:spPr>
          <a:xfrm rot="0" flipH="0" flipV="0">
            <a:off x="6286500" y="1238250"/>
            <a:ext cx="5372100" cy="1714500"/>
          </a:xfrm>
          <a:prstGeom prst="roundRect">
            <a:avLst>
              <a:gd name="adj" fmla="val 4444"/>
            </a:avLst>
          </a:prstGeom>
          <a:solidFill>
            <a:srgbClr val="F6F8FA"/>
          </a:solidFill>
          <a:ln/>
        </p:spPr>
        <p:txBody>
          <a:bodyPr/>
          <a:p/>
        </p:txBody>
      </p:sp>
      <p:sp>
        <p:nvSpPr>
          <p:cNvPr id="30" name=""/>
          <p:cNvSpPr txBox="1"/>
          <p:nvPr/>
        </p:nvSpPr>
        <p:spPr>
          <a:xfrm rot="0" flipH="0" flipV="0">
            <a:off x="6438900" y="1371600"/>
            <a:ext cx="5067300" cy="1447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sz="1125">
                <a:solidFill>
                  <a:srgbClr val="6A737D"/>
                </a:solidFill>
                <a:latin typeface="Menlo"/>
                <a:ea typeface="Menlo"/>
              </a:rPr>
              <a:t># 场景列表</a:t>
            </a:r>
            <a:endParaRPr/>
          </a:p>
          <a:p>
            <a:pPr>
              <a:lnSpc>
                <a:spcPct val="140000"/>
              </a:lnSpc>
            </a:pPr>
            <a:r>
              <a:rPr sz="1125">
                <a:solidFill>
                  <a:srgbClr val="24292E"/>
                </a:solidFill>
                <a:latin typeface="Menlo"/>
                <a:ea typeface="Menlo"/>
              </a:rPr>
              <a:t>scenes </a:t>
            </a:r>
            <a:r>
              <a:rPr sz="1125">
                <a:solidFill>
                  <a:srgbClr val="D73A49"/>
                </a:solidFill>
                <a:latin typeface="Menlo"/>
                <a:ea typeface="Menlo"/>
              </a:rPr>
              <a:t>=</a:t>
            </a:r>
            <a:r>
              <a:rPr sz="1125">
                <a:solidFill>
                  <a:srgbClr val="24292E"/>
                </a:solidFill>
                <a:latin typeface="Menlo"/>
                <a:ea typeface="Menlo"/>
              </a:rPr>
              <a:t> [</a:t>
            </a:r>
            <a:r>
              <a:rPr sz="1125">
                <a:solidFill>
                  <a:srgbClr val="032F62"/>
                </a:solidFill>
                <a:latin typeface="Menlo"/>
                <a:ea typeface="Menlo"/>
              </a:rPr>
              <a:t>"客厅"</a:t>
            </a:r>
            <a:r>
              <a:rPr sz="1125">
                <a:solidFill>
                  <a:srgbClr val="24292E"/>
                </a:solidFill>
                <a:latin typeface="Menlo"/>
                <a:ea typeface="Menlo"/>
              </a:rPr>
              <a:t>, </a:t>
            </a:r>
            <a:r>
              <a:rPr sz="1125">
                <a:solidFill>
                  <a:srgbClr val="032F62"/>
                </a:solidFill>
                <a:latin typeface="Menlo"/>
                <a:ea typeface="Menlo"/>
              </a:rPr>
              <a:t>"办公桌"</a:t>
            </a:r>
            <a:r>
              <a:rPr sz="1125">
                <a:solidFill>
                  <a:srgbClr val="24292E"/>
                </a:solidFill>
                <a:latin typeface="Menlo"/>
                <a:ea typeface="Menlo"/>
              </a:rPr>
              <a:t>, </a:t>
            </a:r>
            <a:r>
              <a:rPr sz="1125">
                <a:solidFill>
                  <a:srgbClr val="032F62"/>
                </a:solidFill>
                <a:latin typeface="Menlo"/>
                <a:ea typeface="Menlo"/>
              </a:rPr>
              <a:t>"礼盒"</a:t>
            </a:r>
            <a:r>
              <a:rPr sz="1125">
                <a:solidFill>
                  <a:srgbClr val="24292E"/>
                </a:solidFill>
                <a:latin typeface="Menlo"/>
                <a:ea typeface="Menlo"/>
              </a:rPr>
              <a:t>]</a:t>
            </a:r>
            <a:endParaRPr/>
          </a:p>
          <a:p>
            <a:pPr>
              <a:lnSpc>
                <a:spcPct val="140000"/>
              </a:lnSpc>
            </a:pPr>
            <a:r>
              <a:rPr sz="1125">
                <a:solidFill>
                  <a:srgbClr val="E5E7EB"/>
                </a:solidFill>
                <a:latin typeface="Menlo"/>
                <a:ea typeface="Menlo"/>
              </a:rPr>
              <a:t> </a:t>
            </a:r>
            <a:endParaRPr/>
          </a:p>
          <a:p>
            <a:pPr>
              <a:lnSpc>
                <a:spcPct val="140000"/>
              </a:lnSpc>
            </a:pPr>
            <a:r>
              <a:rPr sz="1125">
                <a:solidFill>
                  <a:srgbClr val="6A737D"/>
                </a:solidFill>
                <a:latin typeface="Menlo"/>
                <a:ea typeface="Menlo"/>
              </a:rPr>
              <a:t># 遍历每个场景</a:t>
            </a:r>
            <a:endParaRPr/>
          </a:p>
          <a:p>
            <a:pPr>
              <a:lnSpc>
                <a:spcPct val="140000"/>
              </a:lnSpc>
            </a:pPr>
            <a:r>
              <a:rPr sz="1125">
                <a:solidFill>
                  <a:srgbClr val="D73A49"/>
                </a:solidFill>
                <a:latin typeface="Menlo"/>
                <a:ea typeface="Menlo"/>
              </a:rPr>
              <a:t>for</a:t>
            </a:r>
            <a:r>
              <a:rPr sz="1125">
                <a:solidFill>
                  <a:srgbClr val="24292E"/>
                </a:solidFill>
                <a:latin typeface="Menlo"/>
                <a:ea typeface="Menlo"/>
              </a:rPr>
              <a:t> s </a:t>
            </a:r>
            <a:r>
              <a:rPr sz="1125">
                <a:solidFill>
                  <a:srgbClr val="D73A49"/>
                </a:solidFill>
                <a:latin typeface="Menlo"/>
                <a:ea typeface="Menlo"/>
              </a:rPr>
              <a:t>in</a:t>
            </a:r>
            <a:r>
              <a:rPr sz="1125">
                <a:solidFill>
                  <a:srgbClr val="24292E"/>
                </a:solidFill>
                <a:latin typeface="Menlo"/>
                <a:ea typeface="Menlo"/>
              </a:rPr>
              <a:t> scenes:</a:t>
            </a:r>
            <a:endParaRPr/>
          </a:p>
          <a:p>
            <a:pPr>
              <a:lnSpc>
                <a:spcPct val="140000"/>
              </a:lnSpc>
            </a:pPr>
            <a:r>
              <a:rPr sz="1125">
                <a:solidFill>
                  <a:srgbClr val="24292E"/>
                </a:solidFill>
                <a:latin typeface="Menlo"/>
                <a:ea typeface="Menlo"/>
              </a:rPr>
              <a:t>    </a:t>
            </a:r>
            <a:r>
              <a:rPr sz="1125">
                <a:solidFill>
                  <a:srgbClr val="005CC5"/>
                </a:solidFill>
                <a:latin typeface="Menlo"/>
                <a:ea typeface="Menlo"/>
              </a:rPr>
              <a:t>print</a:t>
            </a:r>
            <a:r>
              <a:rPr sz="1125">
                <a:solidFill>
                  <a:srgbClr val="24292E"/>
                </a:solidFill>
                <a:latin typeface="Menlo"/>
                <a:ea typeface="Menlo"/>
              </a:rPr>
              <a:t>(build_prompt(name, sp, s))</a:t>
            </a:r>
            <a:endParaRPr/>
          </a:p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11353800" y="66198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E4FA8"/>
                </a:solidFill>
                <a:latin typeface="Microsoft YaHei"/>
                <a:ea typeface="Microsoft YaHei"/>
              </a:rPr>
              <a:t>03 / 09</a:t>
            </a:r>
            <a:endParaRPr/>
          </a:p>
        </p:txBody>
      </p:sp>
    </p:spTree>
  </p:cSld>
</p:sld>
</file>

<file path=ppt/slides/slide4.xml><?xml version="1.0" encoding="utf-8"?>
<p:sld xmlns:a="http://schemas.openxmlformats.org/drawingml/2006/main" xmlns:p="http://schemas.openxmlformats.org/presentationml/2006/main">
  <p:cSld>
    <p:spTree>
      <p:nvGrpSpPr>
        <p:cNvPr id="32" name="" descr="&lt;Slide style={{ width: '1280px', height: '720px', background: '#FFFFFF', padding: 0 }}&gt;&#10;  &lt;Box style={{ height: 56, background: '#0E3F8C', flexDirection: 'row', alignItems: 'center', paddingLeft: 40 }}&gt;&#10;    &lt;Text style={{ fontSize: 20, fontWeight: 'bold', color: '#FFFFFF' }}&gt;母体函数（你直接用的代码）&lt;/Text&gt;&#10;  &lt;/Box&gt;&#10;  &lt;Box style={{ flex: 1, flexDirection: 'column', justifyContent: 'center', padding: '0 64px', gap: 16 }}&gt;&#10;    &lt;CodeBlock&#10;      code={`DEFAULT_SCENES = [&#10;    &quot;北欧客厅场景&quot;,&#10;    &quot;办公桌使用场景&quot;,&#10;    &quot;礼品盒包装场景&quot;,&#10;]&#10;&#10;def build_scene_prompt(name, selling_point, scene):&#10;    return (&#10;        f&quot;将同一件商品原样放入以下场景，&quot;&#10;        f&quot;外观须与白底图一致：&quot;&#10;        f&quot;场景={scene}；商品={name}；&quot;&#10;        f&quot;卖点={selling_point}；真实摄影质感&quot;&#10;    )`}&#10;      language='python'&#10;      width={640}&#10;      fontSize={16}&#10;    /&gt;&#10;    &lt;Text style={{ fontSize: 15, color: '#64748B' }}&gt;这就是期末综合项目里用的函数，现在照着写 / 理解它，后面直接复用，不用改。&lt;/Text&gt;&#10;  &lt;/Box&gt;&#10;  &lt;Box style={{ position: 'absolute', bottom: 0, left: 0, right: 0, height: 34, flexDirection: 'row', alignItems: 'center', justifyContent: 'flex-end', paddingRight: 40 }}&gt;&#10;    &lt;Text style={{ fontSize: 14, color: '#1E4FA8' }}&gt;04 / 09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4" name=""/>
          <p:cNvSpPr/>
          <p:nvPr/>
        </p:nvSpPr>
        <p:spPr>
          <a:xfrm rot="0" flipH="0" flipV="0">
            <a:off x="0" y="0"/>
            <a:ext cx="12192000" cy="5334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381000" y="152400"/>
            <a:ext cx="2476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母体函数（你直接用的代码）</a:t>
            </a:r>
            <a:endParaRPr/>
          </a:p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609600" y="5486400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这就是期末综合项目里用的函数，现在照着写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 /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理解它，后面直接复用，不用改。</a:t>
            </a:r>
            <a:endParaRPr/>
          </a:p>
        </p:txBody>
      </p:sp>
      <p:sp>
        <p:nvSpPr>
          <p:cNvPr id="37" name=""/>
          <p:cNvSpPr/>
          <p:nvPr/>
        </p:nvSpPr>
        <p:spPr>
          <a:xfrm rot="0" flipH="0" flipV="0">
            <a:off x="609600" y="1733550"/>
            <a:ext cx="10972800" cy="3600450"/>
          </a:xfrm>
          <a:prstGeom prst="roundRect">
            <a:avLst>
              <a:gd name="adj" fmla="val 2116"/>
            </a:avLst>
          </a:prstGeom>
          <a:solidFill>
            <a:srgbClr val="F6F8FA"/>
          </a:solidFill>
          <a:ln/>
        </p:spPr>
        <p:txBody>
          <a:bodyPr/>
          <a:p/>
        </p:txBody>
      </p:sp>
      <p:sp>
        <p:nvSpPr>
          <p:cNvPr id="38" name=""/>
          <p:cNvSpPr txBox="1"/>
          <p:nvPr/>
        </p:nvSpPr>
        <p:spPr>
          <a:xfrm rot="0" flipH="0" flipV="0">
            <a:off x="762000" y="1866900"/>
            <a:ext cx="10668000" cy="3333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sz="1200">
                <a:solidFill>
                  <a:srgbClr val="005CC5"/>
                </a:solidFill>
                <a:latin typeface="Menlo"/>
                <a:ea typeface="Menlo"/>
              </a:rPr>
              <a:t>DEFAULT_SCENES</a:t>
            </a:r>
            <a:r>
              <a:rPr sz="1200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1200">
                <a:solidFill>
                  <a:srgbClr val="D73A49"/>
                </a:solidFill>
                <a:latin typeface="Menlo"/>
                <a:ea typeface="Menlo"/>
              </a:rPr>
              <a:t>=</a:t>
            </a:r>
            <a:r>
              <a:rPr sz="1200">
                <a:solidFill>
                  <a:srgbClr val="24292E"/>
                </a:solidFill>
                <a:latin typeface="Menlo"/>
                <a:ea typeface="Menlo"/>
              </a:rPr>
              <a:t> [</a:t>
            </a:r>
            <a:endParaRPr/>
          </a:p>
          <a:p>
            <a:pPr>
              <a:lnSpc>
                <a:spcPct val="140000"/>
              </a:lnSpc>
            </a:pPr>
            <a:r>
              <a:rPr sz="1200">
                <a:solidFill>
                  <a:srgbClr val="24292E"/>
                </a:solidFill>
                <a:latin typeface="Menlo"/>
                <a:ea typeface="Menlo"/>
              </a:rPr>
              <a:t>    </a:t>
            </a:r>
            <a:r>
              <a:rPr sz="1200">
                <a:solidFill>
                  <a:srgbClr val="032F62"/>
                </a:solidFill>
                <a:latin typeface="Menlo"/>
                <a:ea typeface="Menlo"/>
              </a:rPr>
              <a:t>"北欧客厅场景"</a:t>
            </a:r>
            <a:r>
              <a:rPr sz="1200">
                <a:solidFill>
                  <a:srgbClr val="24292E"/>
                </a:solidFill>
                <a:latin typeface="Menlo"/>
                <a:ea typeface="Menlo"/>
              </a:rPr>
              <a:t>,</a:t>
            </a:r>
            <a:endParaRPr/>
          </a:p>
          <a:p>
            <a:pPr>
              <a:lnSpc>
                <a:spcPct val="140000"/>
              </a:lnSpc>
            </a:pPr>
            <a:r>
              <a:rPr sz="1200">
                <a:solidFill>
                  <a:srgbClr val="24292E"/>
                </a:solidFill>
                <a:latin typeface="Menlo"/>
                <a:ea typeface="Menlo"/>
              </a:rPr>
              <a:t>    </a:t>
            </a:r>
            <a:r>
              <a:rPr sz="1200">
                <a:solidFill>
                  <a:srgbClr val="032F62"/>
                </a:solidFill>
                <a:latin typeface="Menlo"/>
                <a:ea typeface="Menlo"/>
              </a:rPr>
              <a:t>"办公桌使用场景"</a:t>
            </a:r>
            <a:r>
              <a:rPr sz="1200">
                <a:solidFill>
                  <a:srgbClr val="24292E"/>
                </a:solidFill>
                <a:latin typeface="Menlo"/>
                <a:ea typeface="Menlo"/>
              </a:rPr>
              <a:t>,</a:t>
            </a:r>
            <a:endParaRPr/>
          </a:p>
          <a:p>
            <a:pPr>
              <a:lnSpc>
                <a:spcPct val="140000"/>
              </a:lnSpc>
            </a:pPr>
            <a:r>
              <a:rPr sz="1200">
                <a:solidFill>
                  <a:srgbClr val="24292E"/>
                </a:solidFill>
                <a:latin typeface="Menlo"/>
                <a:ea typeface="Menlo"/>
              </a:rPr>
              <a:t>    </a:t>
            </a:r>
            <a:r>
              <a:rPr sz="1200">
                <a:solidFill>
                  <a:srgbClr val="032F62"/>
                </a:solidFill>
                <a:latin typeface="Menlo"/>
                <a:ea typeface="Menlo"/>
              </a:rPr>
              <a:t>"礼品盒包装场景"</a:t>
            </a:r>
            <a:r>
              <a:rPr sz="1200">
                <a:solidFill>
                  <a:srgbClr val="24292E"/>
                </a:solidFill>
                <a:latin typeface="Menlo"/>
                <a:ea typeface="Menlo"/>
              </a:rPr>
              <a:t>,</a:t>
            </a:r>
            <a:endParaRPr/>
          </a:p>
          <a:p>
            <a:pPr>
              <a:lnSpc>
                <a:spcPct val="140000"/>
              </a:lnSpc>
            </a:pPr>
            <a:r>
              <a:rPr sz="1200">
                <a:solidFill>
                  <a:srgbClr val="24292E"/>
                </a:solidFill>
                <a:latin typeface="Menlo"/>
                <a:ea typeface="Menlo"/>
              </a:rPr>
              <a:t>]</a:t>
            </a:r>
            <a:endParaRPr/>
          </a:p>
          <a:p>
            <a:pPr>
              <a:lnSpc>
                <a:spcPct val="140000"/>
              </a:lnSpc>
            </a:pPr>
            <a:r>
              <a:rPr sz="1200">
                <a:solidFill>
                  <a:srgbClr val="E5E7EB"/>
                </a:solidFill>
                <a:latin typeface="Menlo"/>
                <a:ea typeface="Menlo"/>
              </a:rPr>
              <a:t> </a:t>
            </a:r>
            <a:endParaRPr/>
          </a:p>
          <a:p>
            <a:pPr>
              <a:lnSpc>
                <a:spcPct val="140000"/>
              </a:lnSpc>
            </a:pPr>
            <a:r>
              <a:rPr sz="1200">
                <a:solidFill>
                  <a:srgbClr val="D73A49"/>
                </a:solidFill>
                <a:latin typeface="Menlo"/>
                <a:ea typeface="Menlo"/>
              </a:rPr>
              <a:t>def</a:t>
            </a:r>
            <a:r>
              <a:rPr sz="1200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1200">
                <a:solidFill>
                  <a:srgbClr val="6F42C1"/>
                </a:solidFill>
                <a:latin typeface="Menlo"/>
                <a:ea typeface="Menlo"/>
              </a:rPr>
              <a:t>build_scene_prompt</a:t>
            </a:r>
            <a:r>
              <a:rPr sz="1200">
                <a:solidFill>
                  <a:srgbClr val="24292E"/>
                </a:solidFill>
                <a:latin typeface="Menlo"/>
                <a:ea typeface="Menlo"/>
              </a:rPr>
              <a:t>(name, selling_point, scene):</a:t>
            </a:r>
            <a:endParaRPr/>
          </a:p>
          <a:p>
            <a:pPr>
              <a:lnSpc>
                <a:spcPct val="140000"/>
              </a:lnSpc>
            </a:pPr>
            <a:r>
              <a:rPr sz="1200">
                <a:solidFill>
                  <a:srgbClr val="24292E"/>
                </a:solidFill>
                <a:latin typeface="Menlo"/>
                <a:ea typeface="Menlo"/>
              </a:rPr>
              <a:t>    </a:t>
            </a:r>
            <a:r>
              <a:rPr sz="1200">
                <a:solidFill>
                  <a:srgbClr val="D73A49"/>
                </a:solidFill>
                <a:latin typeface="Menlo"/>
                <a:ea typeface="Menlo"/>
              </a:rPr>
              <a:t>return</a:t>
            </a:r>
            <a:r>
              <a:rPr sz="1200">
                <a:solidFill>
                  <a:srgbClr val="24292E"/>
                </a:solidFill>
                <a:latin typeface="Menlo"/>
                <a:ea typeface="Menlo"/>
              </a:rPr>
              <a:t> (</a:t>
            </a:r>
            <a:endParaRPr/>
          </a:p>
          <a:p>
            <a:pPr>
              <a:lnSpc>
                <a:spcPct val="140000"/>
              </a:lnSpc>
            </a:pPr>
            <a:r>
              <a:rPr sz="1200">
                <a:solidFill>
                  <a:srgbClr val="24292E"/>
                </a:solidFill>
                <a:latin typeface="Menlo"/>
                <a:ea typeface="Menlo"/>
              </a:rPr>
              <a:t>        </a:t>
            </a:r>
            <a:r>
              <a:rPr sz="1200">
                <a:solidFill>
                  <a:srgbClr val="D73A49"/>
                </a:solidFill>
                <a:latin typeface="Menlo"/>
                <a:ea typeface="Menlo"/>
              </a:rPr>
              <a:t>f</a:t>
            </a:r>
            <a:r>
              <a:rPr sz="1200">
                <a:solidFill>
                  <a:srgbClr val="032F62"/>
                </a:solidFill>
                <a:latin typeface="Menlo"/>
                <a:ea typeface="Menlo"/>
              </a:rPr>
              <a:t>"将同一件商品原样放入以下场景，"</a:t>
            </a:r>
            <a:endParaRPr/>
          </a:p>
          <a:p>
            <a:pPr>
              <a:lnSpc>
                <a:spcPct val="140000"/>
              </a:lnSpc>
            </a:pPr>
            <a:r>
              <a:rPr sz="1200">
                <a:solidFill>
                  <a:srgbClr val="24292E"/>
                </a:solidFill>
                <a:latin typeface="Menlo"/>
                <a:ea typeface="Menlo"/>
              </a:rPr>
              <a:t>        </a:t>
            </a:r>
            <a:r>
              <a:rPr sz="1200">
                <a:solidFill>
                  <a:srgbClr val="D73A49"/>
                </a:solidFill>
                <a:latin typeface="Menlo"/>
                <a:ea typeface="Menlo"/>
              </a:rPr>
              <a:t>f</a:t>
            </a:r>
            <a:r>
              <a:rPr sz="1200">
                <a:solidFill>
                  <a:srgbClr val="032F62"/>
                </a:solidFill>
                <a:latin typeface="Menlo"/>
                <a:ea typeface="Menlo"/>
              </a:rPr>
              <a:t>"外观须与白底图一致："</a:t>
            </a:r>
            <a:endParaRPr/>
          </a:p>
          <a:p>
            <a:pPr>
              <a:lnSpc>
                <a:spcPct val="140000"/>
              </a:lnSpc>
            </a:pPr>
            <a:r>
              <a:rPr sz="1200">
                <a:solidFill>
                  <a:srgbClr val="24292E"/>
                </a:solidFill>
                <a:latin typeface="Menlo"/>
                <a:ea typeface="Menlo"/>
              </a:rPr>
              <a:t>        </a:t>
            </a:r>
            <a:r>
              <a:rPr sz="1200">
                <a:solidFill>
                  <a:srgbClr val="D73A49"/>
                </a:solidFill>
                <a:latin typeface="Menlo"/>
                <a:ea typeface="Menlo"/>
              </a:rPr>
              <a:t>f</a:t>
            </a:r>
            <a:r>
              <a:rPr sz="1200">
                <a:solidFill>
                  <a:srgbClr val="032F62"/>
                </a:solidFill>
                <a:latin typeface="Menlo"/>
                <a:ea typeface="Menlo"/>
              </a:rPr>
              <a:t>"场景=</a:t>
            </a:r>
            <a:r>
              <a:rPr sz="1200">
                <a:solidFill>
                  <a:srgbClr val="005CC5"/>
                </a:solidFill>
                <a:latin typeface="Menlo"/>
                <a:ea typeface="Menlo"/>
              </a:rPr>
              <a:t>{</a:t>
            </a:r>
            <a:r>
              <a:rPr sz="1200">
                <a:solidFill>
                  <a:srgbClr val="24292E"/>
                </a:solidFill>
                <a:latin typeface="Menlo"/>
                <a:ea typeface="Menlo"/>
              </a:rPr>
              <a:t>scene</a:t>
            </a:r>
            <a:r>
              <a:rPr sz="1200">
                <a:solidFill>
                  <a:srgbClr val="005CC5"/>
                </a:solidFill>
                <a:latin typeface="Menlo"/>
                <a:ea typeface="Menlo"/>
              </a:rPr>
              <a:t>}</a:t>
            </a:r>
            <a:r>
              <a:rPr sz="1200">
                <a:solidFill>
                  <a:srgbClr val="032F62"/>
                </a:solidFill>
                <a:latin typeface="Menlo"/>
                <a:ea typeface="Menlo"/>
              </a:rPr>
              <a:t>；商品=</a:t>
            </a:r>
            <a:r>
              <a:rPr sz="1200">
                <a:solidFill>
                  <a:srgbClr val="005CC5"/>
                </a:solidFill>
                <a:latin typeface="Menlo"/>
                <a:ea typeface="Menlo"/>
              </a:rPr>
              <a:t>{</a:t>
            </a:r>
            <a:r>
              <a:rPr sz="1200">
                <a:solidFill>
                  <a:srgbClr val="24292E"/>
                </a:solidFill>
                <a:latin typeface="Menlo"/>
                <a:ea typeface="Menlo"/>
              </a:rPr>
              <a:t>name</a:t>
            </a:r>
            <a:r>
              <a:rPr sz="1200">
                <a:solidFill>
                  <a:srgbClr val="005CC5"/>
                </a:solidFill>
                <a:latin typeface="Menlo"/>
                <a:ea typeface="Menlo"/>
              </a:rPr>
              <a:t>}</a:t>
            </a:r>
            <a:r>
              <a:rPr sz="1200">
                <a:solidFill>
                  <a:srgbClr val="032F62"/>
                </a:solidFill>
                <a:latin typeface="Menlo"/>
                <a:ea typeface="Menlo"/>
              </a:rPr>
              <a:t>；"</a:t>
            </a:r>
            <a:endParaRPr/>
          </a:p>
          <a:p>
            <a:pPr>
              <a:lnSpc>
                <a:spcPct val="140000"/>
              </a:lnSpc>
            </a:pPr>
            <a:r>
              <a:rPr sz="1200">
                <a:solidFill>
                  <a:srgbClr val="24292E"/>
                </a:solidFill>
                <a:latin typeface="Menlo"/>
                <a:ea typeface="Menlo"/>
              </a:rPr>
              <a:t>        </a:t>
            </a:r>
            <a:r>
              <a:rPr sz="1200">
                <a:solidFill>
                  <a:srgbClr val="D73A49"/>
                </a:solidFill>
                <a:latin typeface="Menlo"/>
                <a:ea typeface="Menlo"/>
              </a:rPr>
              <a:t>f</a:t>
            </a:r>
            <a:r>
              <a:rPr sz="1200">
                <a:solidFill>
                  <a:srgbClr val="032F62"/>
                </a:solidFill>
                <a:latin typeface="Menlo"/>
                <a:ea typeface="Menlo"/>
              </a:rPr>
              <a:t>"卖点=</a:t>
            </a:r>
            <a:r>
              <a:rPr sz="1200">
                <a:solidFill>
                  <a:srgbClr val="005CC5"/>
                </a:solidFill>
                <a:latin typeface="Menlo"/>
                <a:ea typeface="Menlo"/>
              </a:rPr>
              <a:t>{</a:t>
            </a:r>
            <a:r>
              <a:rPr sz="1200">
                <a:solidFill>
                  <a:srgbClr val="24292E"/>
                </a:solidFill>
                <a:latin typeface="Menlo"/>
                <a:ea typeface="Menlo"/>
              </a:rPr>
              <a:t>selling_point</a:t>
            </a:r>
            <a:r>
              <a:rPr sz="1200">
                <a:solidFill>
                  <a:srgbClr val="005CC5"/>
                </a:solidFill>
                <a:latin typeface="Menlo"/>
                <a:ea typeface="Menlo"/>
              </a:rPr>
              <a:t>}</a:t>
            </a:r>
            <a:r>
              <a:rPr sz="1200">
                <a:solidFill>
                  <a:srgbClr val="032F62"/>
                </a:solidFill>
                <a:latin typeface="Menlo"/>
                <a:ea typeface="Menlo"/>
              </a:rPr>
              <a:t>；真实摄影质感"</a:t>
            </a:r>
            <a:endParaRPr/>
          </a:p>
          <a:p>
            <a:pPr>
              <a:lnSpc>
                <a:spcPct val="140000"/>
              </a:lnSpc>
            </a:pPr>
            <a:r>
              <a:rPr sz="1200">
                <a:solidFill>
                  <a:srgbClr val="24292E"/>
                </a:solidFill>
                <a:latin typeface="Menlo"/>
                <a:ea typeface="Menlo"/>
              </a:rPr>
              <a:t>    )</a:t>
            </a:r>
            <a:endParaRPr/>
          </a:p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11353800" y="66198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E4FA8"/>
                </a:solidFill>
                <a:latin typeface="Microsoft YaHei"/>
                <a:ea typeface="Microsoft YaHei"/>
              </a:rPr>
              <a:t>04 / 09</a:t>
            </a:r>
            <a:endParaRPr/>
          </a:p>
        </p:txBody>
      </p:sp>
    </p:spTree>
  </p:cSld>
</p:sld>
</file>

<file path=ppt/slides/slide5.xml><?xml version="1.0" encoding="utf-8"?>
<p:sld xmlns:a="http://schemas.openxmlformats.org/drawingml/2006/main" xmlns:p="http://schemas.openxmlformats.org/presentationml/2006/main">
  <p:cSld>
    <p:spTree>
      <p:nvGrpSpPr>
        <p:cNvPr id="40" name="" descr="&lt;Slide style={{ width: '1280px', height: '720px', background: '#FFFFFF', padding: 0 }}&gt;&#10;  &lt;Box style={{ height: 56, background: '#0E3F8C', flexDirection: 'row', alignItems: 'center', paddingLeft: 40 }}&gt;&#10;    &lt;Text style={{ fontSize: 20, fontWeight: 'bold', color: '#FFFFFF' }}&gt;任务一 · 单条提示词（必做）&lt;/Text&gt;&#10;  &lt;/Box&gt;&#10;  &lt;Box style={{ flex: 1, flexDirection: 'column', justifyContent: 'center', padding: '0 64px', gap: 16 }}&gt;&#10;    &lt;Box style={{ background: '#F0F5FC', border: '1px solid #D6DCE5', borderRadius: 12, padding: '16px 20px', flexDirection: 'column', gap: 6 }}&gt;&#10;      &lt;Text style={{ fontSize: 16, color: '#334155' }}&gt;给定：&lt;/Text&gt;&#10;      &lt;Text style={{ fontSize: 16, color: '#0E3F8C' }}&gt;  name = &quot;青瓷茶漏&quot;&lt;/Text&gt;&#10;      &lt;Text style={{ fontSize: 16, color: '#0E3F8C' }}&gt;  selling_point = &quot;过滤细腻，不挂茶渍&quot;&lt;/Text&gt;&#10;    &lt;/Box&gt;&#10;    &lt;Text style={{ fontSize: 17, color: '#334155' }}&gt;要求：用 f-string 拼出提示词并打印（场景先用 &quot;北欧客厅场景&quot;）。&lt;/Text&gt;&#10;    &lt;Text style={{ fontSize: 17, color: '#334155' }}&gt;自检：输出里必须包含 &lt;b&gt;场景 / 商品 / 卖点&lt;/b&gt; 三要素。&lt;/Text&gt;&#10;  &lt;/Box&gt;&#10;  &lt;Box style={{ position: 'absolute', bottom: 0, left: 0, right: 0, height: 34, flexDirection: 'row', alignItems: 'center', justifyContent: 'flex-end', paddingRight: 40 }}&gt;&#10;    &lt;Text style={{ fontSize: 14, color: '#1E4FA8' }}&gt;05 / 09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2" name=""/>
          <p:cNvSpPr/>
          <p:nvPr/>
        </p:nvSpPr>
        <p:spPr>
          <a:xfrm rot="0" flipH="0" flipV="0">
            <a:off x="0" y="0"/>
            <a:ext cx="12192000" cy="5334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381000" y="152400"/>
            <a:ext cx="24860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任务一</a:t>
            </a: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 ·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单条提示词（必做）</a:t>
            </a:r>
            <a:endParaRPr/>
          </a:p>
        </p:txBody>
      </p:sp>
      <p:sp>
        <p:nvSpPr>
          <p:cNvPr id="44" name=""/>
          <p:cNvSpPr/>
          <p:nvPr/>
        </p:nvSpPr>
        <p:spPr>
          <a:xfrm rot="0" flipH="0" flipV="0">
            <a:off x="609600" y="2847975"/>
            <a:ext cx="10972800" cy="990600"/>
          </a:xfrm>
          <a:prstGeom prst="roundRect">
            <a:avLst>
              <a:gd name="adj" fmla="val 11538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800100" y="3000375"/>
            <a:ext cx="10591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334155"/>
                </a:solidFill>
                <a:latin typeface="Microsoft YaHei"/>
                <a:ea typeface="Microsoft YaHei"/>
              </a:rPr>
              <a:t>给定：</a:t>
            </a:r>
            <a:endParaRPr/>
          </a:p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800100" y="3248025"/>
            <a:ext cx="10591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0E3F8C"/>
                </a:solidFill>
                <a:latin typeface="Microsoft YaHei"/>
                <a:ea typeface="Microsoft YaHei"/>
              </a:rPr>
              <a:t>  name = "</a:t>
            </a:r>
            <a:r>
              <a:rPr lang="zh-CN" sz="1200">
                <a:solidFill>
                  <a:srgbClr val="0E3F8C"/>
                </a:solidFill>
                <a:latin typeface="Microsoft YaHei"/>
                <a:ea typeface="Microsoft YaHei"/>
              </a:rPr>
              <a:t>青瓷茶漏</a:t>
            </a:r>
            <a:r>
              <a:rPr lang="en-US" sz="1200">
                <a:solidFill>
                  <a:srgbClr val="0E3F8C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800100" y="3495675"/>
            <a:ext cx="10591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0E3F8C"/>
                </a:solidFill>
                <a:latin typeface="Microsoft YaHei"/>
                <a:ea typeface="Microsoft YaHei"/>
              </a:rPr>
              <a:t>  selling_point = "</a:t>
            </a:r>
            <a:r>
              <a:rPr lang="zh-CN" sz="1200">
                <a:solidFill>
                  <a:srgbClr val="0E3F8C"/>
                </a:solidFill>
                <a:latin typeface="Microsoft YaHei"/>
                <a:ea typeface="Microsoft YaHei"/>
              </a:rPr>
              <a:t>过滤细腻，不挂茶渍</a:t>
            </a:r>
            <a:r>
              <a:rPr lang="en-US" sz="1200">
                <a:solidFill>
                  <a:srgbClr val="0E3F8C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609600" y="3990975"/>
            <a:ext cx="10972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334155"/>
                </a:solidFill>
                <a:latin typeface="Microsoft YaHei"/>
                <a:ea typeface="Microsoft YaHei"/>
              </a:rPr>
              <a:t>要求：用</a:t>
            </a:r>
            <a:r>
              <a:rPr lang="en-US" sz="1275">
                <a:solidFill>
                  <a:srgbClr val="334155"/>
                </a:solidFill>
                <a:latin typeface="Microsoft YaHei"/>
                <a:ea typeface="Microsoft YaHei"/>
              </a:rPr>
              <a:t> f-string </a:t>
            </a:r>
            <a:r>
              <a:rPr lang="zh-CN" sz="1275">
                <a:solidFill>
                  <a:srgbClr val="334155"/>
                </a:solidFill>
                <a:latin typeface="Microsoft YaHei"/>
                <a:ea typeface="Microsoft YaHei"/>
              </a:rPr>
              <a:t>拼出提示词并打印（场景先用</a:t>
            </a:r>
            <a:r>
              <a:rPr lang="en-US" sz="1275">
                <a:solidFill>
                  <a:srgbClr val="334155"/>
                </a:solidFill>
                <a:latin typeface="Microsoft YaHei"/>
                <a:ea typeface="Microsoft YaHei"/>
              </a:rPr>
              <a:t> "</a:t>
            </a:r>
            <a:r>
              <a:rPr lang="zh-CN" sz="1275">
                <a:solidFill>
                  <a:srgbClr val="334155"/>
                </a:solidFill>
                <a:latin typeface="Microsoft YaHei"/>
                <a:ea typeface="Microsoft YaHei"/>
              </a:rPr>
              <a:t>北欧客厅场景</a:t>
            </a:r>
            <a:r>
              <a:rPr lang="en-US" sz="1275">
                <a:solidFill>
                  <a:srgbClr val="334155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334155"/>
                </a:solidFill>
                <a:latin typeface="Microsoft YaHei"/>
                <a:ea typeface="Microsoft YaHei"/>
              </a:rPr>
              <a:t>）。</a:t>
            </a:r>
            <a:endParaRPr/>
          </a:p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609600" y="4343400"/>
            <a:ext cx="10972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334155"/>
                </a:solidFill>
                <a:latin typeface="Microsoft YaHei"/>
                <a:ea typeface="Microsoft YaHei"/>
              </a:rPr>
              <a:t>自检：输出里必须包含</a:t>
            </a:r>
            <a:r>
              <a:rPr lang="en-US" sz="1275">
                <a:solidFill>
                  <a:srgbClr val="334155"/>
                </a:solidFill>
                <a:latin typeface="Microsoft YaHei"/>
                <a:ea typeface="Microsoft YaHei"/>
              </a:rPr>
              <a:t> </a:t>
            </a:r>
            <a:r>
              <a:rPr lang="zh-CN" sz="1275">
                <a:solidFill>
                  <a:srgbClr val="334155"/>
                </a:solidFill>
                <a:latin typeface="Microsoft YaHei"/>
                <a:ea typeface="Microsoft YaHei"/>
              </a:rPr>
              <a:t>场景</a:t>
            </a:r>
            <a:r>
              <a:rPr lang="en-US" sz="1275">
                <a:solidFill>
                  <a:srgbClr val="334155"/>
                </a:solidFill>
                <a:latin typeface="Microsoft YaHei"/>
                <a:ea typeface="Microsoft YaHei"/>
              </a:rPr>
              <a:t> / </a:t>
            </a:r>
            <a:r>
              <a:rPr lang="zh-CN" sz="1275">
                <a:solidFill>
                  <a:srgbClr val="334155"/>
                </a:solidFill>
                <a:latin typeface="Microsoft YaHei"/>
                <a:ea typeface="Microsoft YaHei"/>
              </a:rPr>
              <a:t>商品</a:t>
            </a:r>
            <a:r>
              <a:rPr lang="en-US" sz="1275">
                <a:solidFill>
                  <a:srgbClr val="334155"/>
                </a:solidFill>
                <a:latin typeface="Microsoft YaHei"/>
                <a:ea typeface="Microsoft YaHei"/>
              </a:rPr>
              <a:t> / </a:t>
            </a:r>
            <a:r>
              <a:rPr lang="zh-CN" sz="1275">
                <a:solidFill>
                  <a:srgbClr val="334155"/>
                </a:solidFill>
                <a:latin typeface="Microsoft YaHei"/>
                <a:ea typeface="Microsoft YaHei"/>
              </a:rPr>
              <a:t>卖点</a:t>
            </a:r>
            <a:r>
              <a:rPr lang="en-US" sz="1275">
                <a:solidFill>
                  <a:srgbClr val="334155"/>
                </a:solidFill>
                <a:latin typeface="Microsoft YaHei"/>
                <a:ea typeface="Microsoft YaHei"/>
              </a:rPr>
              <a:t> </a:t>
            </a:r>
            <a:r>
              <a:rPr lang="zh-CN" sz="1275">
                <a:solidFill>
                  <a:srgbClr val="334155"/>
                </a:solidFill>
                <a:latin typeface="Microsoft YaHei"/>
                <a:ea typeface="Microsoft YaHei"/>
              </a:rPr>
              <a:t>三要素。</a:t>
            </a:r>
            <a:endParaRPr/>
          </a:p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11353800" y="66198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E4FA8"/>
                </a:solidFill>
                <a:latin typeface="Microsoft YaHei"/>
                <a:ea typeface="Microsoft YaHei"/>
              </a:rPr>
              <a:t>05 / 09</a:t>
            </a:r>
            <a:endParaRPr/>
          </a:p>
        </p:txBody>
      </p:sp>
    </p:spTree>
  </p:cSld>
</p:sld>
</file>

<file path=ppt/slides/slide6.xml><?xml version="1.0" encoding="utf-8"?>
<p:sld xmlns:a="http://schemas.openxmlformats.org/drawingml/2006/main" xmlns:p="http://schemas.openxmlformats.org/presentationml/2006/main">
  <p:cSld>
    <p:spTree>
      <p:nvGrpSpPr>
        <p:cNvPr id="51" name="" descr="&lt;Slide style={{ width: '1280px', height: '720px', background: '#FFFFFF', padding: 0 }}&gt;&#10;  &lt;Box style={{ height: 56, background: '#0E3F8C', flexDirection: 'row', alignItems: 'center', paddingLeft: 40 }}&gt;&#10;    &lt;Text style={{ fontSize: 20, fontWeight: 'bold', color: '#FFFFFF' }}&gt;任务二 · 批量提示词（必做）&lt;/Text&gt;&#10;  &lt;/Box&gt;&#10;  &lt;Box style={{ flex: 1, flexDirection: 'column', justifyContent: 'center', padding: '0 64px', gap: 16 }}&gt;&#10;    &lt;Text style={{ fontSize: 17, color: '#334155' }}&gt;用 &lt;b&gt;for&lt;/b&gt; 循环遍历 &lt;code style={{ background:'#EEF2F7', padding:'1px 6px', borderRadius:4 }}&gt;DEFAULT_SCENES&lt;/code&gt;，&lt;/Text&gt;&#10;    &lt;Text style={{ fontSize: 17, color: '#334155' }}&gt;为每一个场景各生成一条提示词并打印。&lt;/Text&gt;&#10;    &lt;Box style={{ background: '#F0F5FC', border: '1px solid #D6DCE5', borderRadius: 12, padding: '16px 20px', flexDirection: 'column', gap: 6 }}&gt;&#10;      &lt;Text style={{ fontSize: 16, color: '#334155' }}&gt;提示写法：&lt;/Text&gt;&#10;      &lt;Text style={{ fontSize: 16, color: '#0E3F8C' }}&gt;  for scene in DEFAULT_SCENES:&lt;/Text&gt;&#10;      &lt;Text style={{ fontSize: 16, color: '#0E3F8C' }}&gt;      print(build_scene_prompt(name, sp, scene))&lt;/Text&gt;&#10;    &lt;/Box&gt;&#10;    &lt;Text style={{ fontSize: 17, color: '#334155' }}&gt;自检：控制台应输出 &lt;b&gt;3 条&lt;/b&gt; 提示词，每条场景不同。&lt;/Text&gt;&#10;  &lt;/Box&gt;&#10;  &lt;Box style={{ position: 'absolute', bottom: 0, left: 0, right: 0, height: 34, flexDirection: 'row', alignItems: 'center', justifyContent: 'flex-end', paddingRight: 40 }}&gt;&#10;    &lt;Text style={{ fontSize: 14, color: '#1E4FA8' }}&gt;06 / 09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3" name=""/>
          <p:cNvSpPr/>
          <p:nvPr/>
        </p:nvSpPr>
        <p:spPr>
          <a:xfrm rot="0" flipH="0" flipV="0">
            <a:off x="0" y="0"/>
            <a:ext cx="12192000" cy="5334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381000" y="152400"/>
            <a:ext cx="24860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任务二</a:t>
            </a: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 ·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批量提示词（必做）</a:t>
            </a:r>
            <a:endParaRPr/>
          </a:p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609600" y="2676525"/>
            <a:ext cx="10972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334155"/>
                </a:solidFill>
                <a:latin typeface="Microsoft YaHei"/>
                <a:ea typeface="Microsoft YaHei"/>
              </a:rPr>
              <a:t>用</a:t>
            </a:r>
            <a:r>
              <a:rPr lang="en-US" sz="1275">
                <a:solidFill>
                  <a:srgbClr val="334155"/>
                </a:solidFill>
                <a:latin typeface="Microsoft YaHei"/>
                <a:ea typeface="Microsoft YaHei"/>
              </a:rPr>
              <a:t> </a:t>
            </a:r>
            <a:r>
              <a:rPr lang="en-US" sz="1275">
                <a:solidFill>
                  <a:srgbClr val="334155"/>
                </a:solidFill>
                <a:latin typeface="Microsoft YaHei"/>
                <a:ea typeface="Microsoft YaHei"/>
              </a:rPr>
              <a:t>for</a:t>
            </a:r>
            <a:r>
              <a:rPr lang="en-US" sz="1275">
                <a:solidFill>
                  <a:srgbClr val="334155"/>
                </a:solidFill>
                <a:latin typeface="Microsoft YaHei"/>
                <a:ea typeface="Microsoft YaHei"/>
              </a:rPr>
              <a:t> </a:t>
            </a:r>
            <a:r>
              <a:rPr lang="zh-CN" sz="1275">
                <a:solidFill>
                  <a:srgbClr val="334155"/>
                </a:solidFill>
                <a:latin typeface="Microsoft YaHei"/>
                <a:ea typeface="Microsoft YaHei"/>
              </a:rPr>
              <a:t>循环遍历</a:t>
            </a:r>
            <a:r>
              <a:rPr lang="en-US" sz="1275">
                <a:solidFill>
                  <a:srgbClr val="334155"/>
                </a:solidFill>
                <a:latin typeface="Microsoft YaHei"/>
                <a:ea typeface="Microsoft YaHei"/>
              </a:rPr>
              <a:t> </a:t>
            </a:r>
            <a:r>
              <a:rPr lang="en-US" sz="1275">
                <a:solidFill>
                  <a:srgbClr val="334155"/>
                </a:solidFill>
                <a:latin typeface="Microsoft YaHei"/>
                <a:ea typeface="Microsoft YaHei"/>
              </a:rPr>
              <a:t>DEFAULT_SCENES</a:t>
            </a:r>
            <a:r>
              <a:rPr lang="zh-CN" sz="1275">
                <a:solidFill>
                  <a:srgbClr val="334155"/>
                </a:solidFill>
                <a:latin typeface="Microsoft YaHei"/>
                <a:ea typeface="Microsoft YaHei"/>
              </a:rPr>
              <a:t>，</a:t>
            </a:r>
            <a:endParaRPr/>
          </a:p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609600" y="3028950"/>
            <a:ext cx="10972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334155"/>
                </a:solidFill>
                <a:latin typeface="Microsoft YaHei"/>
                <a:ea typeface="Microsoft YaHei"/>
              </a:rPr>
              <a:t>为每一个场景各生成一条提示词并打印。</a:t>
            </a:r>
            <a:endParaRPr/>
          </a:p>
        </p:txBody>
      </p:sp>
      <p:sp>
        <p:nvSpPr>
          <p:cNvPr id="57" name=""/>
          <p:cNvSpPr/>
          <p:nvPr/>
        </p:nvSpPr>
        <p:spPr>
          <a:xfrm rot="0" flipH="0" flipV="0">
            <a:off x="609600" y="3381375"/>
            <a:ext cx="10972800" cy="990600"/>
          </a:xfrm>
          <a:prstGeom prst="roundRect">
            <a:avLst>
              <a:gd name="adj" fmla="val 11538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800100" y="3533775"/>
            <a:ext cx="10591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334155"/>
                </a:solidFill>
                <a:latin typeface="Microsoft YaHei"/>
                <a:ea typeface="Microsoft YaHei"/>
              </a:rPr>
              <a:t>提示写法：</a:t>
            </a:r>
            <a:endParaRPr/>
          </a:p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800100" y="3781425"/>
            <a:ext cx="10591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0E3F8C"/>
                </a:solidFill>
                <a:latin typeface="Microsoft YaHei"/>
                <a:ea typeface="Microsoft YaHei"/>
              </a:rPr>
              <a:t>  for scene in DEFAULT_SCENES:</a:t>
            </a:r>
            <a:endParaRPr/>
          </a:p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800100" y="4029075"/>
            <a:ext cx="10591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0E3F8C"/>
                </a:solidFill>
                <a:latin typeface="Microsoft YaHei"/>
                <a:ea typeface="Microsoft YaHei"/>
              </a:rPr>
              <a:t>      print(build_scene_prompt(name, sp, scene))</a:t>
            </a:r>
            <a:endParaRPr/>
          </a:p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609600" y="4524375"/>
            <a:ext cx="10972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334155"/>
                </a:solidFill>
                <a:latin typeface="Microsoft YaHei"/>
                <a:ea typeface="Microsoft YaHei"/>
              </a:rPr>
              <a:t>自检：控制台应输出</a:t>
            </a:r>
            <a:r>
              <a:rPr lang="en-US" sz="1275">
                <a:solidFill>
                  <a:srgbClr val="334155"/>
                </a:solidFill>
                <a:latin typeface="Microsoft YaHei"/>
                <a:ea typeface="Microsoft YaHei"/>
              </a:rPr>
              <a:t> </a:t>
            </a:r>
            <a:r>
              <a:rPr lang="en-US" sz="1275">
                <a:solidFill>
                  <a:srgbClr val="334155"/>
                </a:solidFill>
                <a:latin typeface="Microsoft YaHei"/>
                <a:ea typeface="Microsoft YaHei"/>
              </a:rPr>
              <a:t>3 </a:t>
            </a:r>
            <a:r>
              <a:rPr lang="zh-CN" sz="1275">
                <a:solidFill>
                  <a:srgbClr val="334155"/>
                </a:solidFill>
                <a:latin typeface="Microsoft YaHei"/>
                <a:ea typeface="Microsoft YaHei"/>
              </a:rPr>
              <a:t>条</a:t>
            </a:r>
            <a:r>
              <a:rPr lang="en-US" sz="1275">
                <a:solidFill>
                  <a:srgbClr val="334155"/>
                </a:solidFill>
                <a:latin typeface="Microsoft YaHei"/>
                <a:ea typeface="Microsoft YaHei"/>
              </a:rPr>
              <a:t> </a:t>
            </a:r>
            <a:r>
              <a:rPr lang="zh-CN" sz="1275">
                <a:solidFill>
                  <a:srgbClr val="334155"/>
                </a:solidFill>
                <a:latin typeface="Microsoft YaHei"/>
                <a:ea typeface="Microsoft YaHei"/>
              </a:rPr>
              <a:t>提示词，每条场景不同。</a:t>
            </a:r>
            <a:endParaRPr/>
          </a:p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11353800" y="66198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E4FA8"/>
                </a:solidFill>
                <a:latin typeface="Microsoft YaHei"/>
                <a:ea typeface="Microsoft YaHei"/>
              </a:rPr>
              <a:t>06 / 09</a:t>
            </a:r>
            <a:endParaRPr/>
          </a:p>
        </p:txBody>
      </p:sp>
    </p:spTree>
  </p:cSld>
</p:sld>
</file>

<file path=ppt/slides/slide7.xml><?xml version="1.0" encoding="utf-8"?>
<p:sld xmlns:a="http://schemas.openxmlformats.org/drawingml/2006/main" xmlns:p="http://schemas.openxmlformats.org/presentationml/2006/main">
  <p:cSld>
    <p:spTree>
      <p:nvGrpSpPr>
        <p:cNvPr id="63" name="" descr="&lt;Slide style={{ width: '1280px', height: '720px', background: '#FFFFFF', padding: 0 }}&gt;&#10;  &lt;Box style={{ height: 56, background: '#0E3F8C', flexDirection: 'row', alignItems: 'center', paddingLeft: 40 }}&gt;&#10;    &lt;Text style={{ fontSize: 20, fontWeight: 'bold', color: '#FFFFFF' }}&gt;任务三 · 封装成函数（进阶选做）&lt;/Text&gt;&#10;  &lt;/Box&gt;&#10;  &lt;Box style={{ flex: 1, flexDirection: 'column', justifyContent: 'center', padding: '0 64px', gap: 16 }}&gt;&#10;    &lt;Text style={{ fontSize: 17, color: '#334155' }}&gt;把任务一的拼接写成函数：&lt;/Text&gt;&#10;    &lt;CodeBlock&#10;      code={`def build_scene_prompt(name, selling_point, scene):&#10;    return f&quot;场景={scene}；商品={name}；卖点={selling_point}&quot;`}&#10;      language='python'&#10;      width={560}&#10;      fontSize={16}&#10;    /&gt;&#10;    &lt;Text style={{ fontSize: 17, color: '#334155' }}&gt;对比你写的函数和幻灯片 04 的母体函数，输出是否一致？&lt;/Text&gt;&#10;    &lt;Text style={{ fontSize: 15, color: '#64748B' }}&gt;一致就说明你已经掌握「把一段逻辑封装成可复用函数」。&lt;/Text&gt;&#10;  &lt;/Box&gt;&#10;  &lt;Box style={{ position: 'absolute', bottom: 0, left: 0, right: 0, height: 34, flexDirection: 'row', alignItems: 'center', justifyContent: 'flex-end', paddingRight: 40 }}&gt;&#10;    &lt;Text style={{ fontSize: 14, color: '#1E4FA8' }}&gt;07 / 09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5" name=""/>
          <p:cNvSpPr/>
          <p:nvPr/>
        </p:nvSpPr>
        <p:spPr>
          <a:xfrm rot="0" flipH="0" flipV="0">
            <a:off x="0" y="0"/>
            <a:ext cx="12192000" cy="5334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381000" y="152400"/>
            <a:ext cx="28670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任务三</a:t>
            </a: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 ·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封装成函数（进阶选做）</a:t>
            </a:r>
            <a:endParaRPr/>
          </a:p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609600" y="2790825"/>
            <a:ext cx="10972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334155"/>
                </a:solidFill>
                <a:latin typeface="Microsoft YaHei"/>
                <a:ea typeface="Microsoft YaHei"/>
              </a:rPr>
              <a:t>把任务一的拼接写成函数：</a:t>
            </a:r>
            <a:endParaRPr/>
          </a:p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609600" y="4076700"/>
            <a:ext cx="10972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334155"/>
                </a:solidFill>
                <a:latin typeface="Microsoft YaHei"/>
                <a:ea typeface="Microsoft YaHei"/>
              </a:rPr>
              <a:t>对比你写的函数和幻灯片</a:t>
            </a:r>
            <a:r>
              <a:rPr lang="en-US" sz="1275">
                <a:solidFill>
                  <a:srgbClr val="334155"/>
                </a:solidFill>
                <a:latin typeface="Microsoft YaHei"/>
                <a:ea typeface="Microsoft YaHei"/>
              </a:rPr>
              <a:t> 04 </a:t>
            </a:r>
            <a:r>
              <a:rPr lang="zh-CN" sz="1275">
                <a:solidFill>
                  <a:srgbClr val="334155"/>
                </a:solidFill>
                <a:latin typeface="Microsoft YaHei"/>
                <a:ea typeface="Microsoft YaHei"/>
              </a:rPr>
              <a:t>的母体函数，输出是否一致？</a:t>
            </a:r>
            <a:endParaRPr/>
          </a:p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609600" y="4429125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一致就说明你已经掌握「把一段逻辑封装成可复用函数」。</a:t>
            </a:r>
            <a:endParaRPr/>
          </a:p>
        </p:txBody>
      </p:sp>
      <p:sp>
        <p:nvSpPr>
          <p:cNvPr id="70" name=""/>
          <p:cNvSpPr/>
          <p:nvPr/>
        </p:nvSpPr>
        <p:spPr>
          <a:xfrm rot="0" flipH="0" flipV="0">
            <a:off x="609600" y="3143250"/>
            <a:ext cx="10972800" cy="781050"/>
          </a:xfrm>
          <a:prstGeom prst="roundRect">
            <a:avLst>
              <a:gd name="adj" fmla="val 9756"/>
            </a:avLst>
          </a:prstGeom>
          <a:solidFill>
            <a:srgbClr val="F6F8FA"/>
          </a:solidFill>
          <a:ln/>
        </p:spPr>
        <p:txBody>
          <a:bodyPr/>
          <a:p/>
        </p:txBody>
      </p:sp>
      <p:sp>
        <p:nvSpPr>
          <p:cNvPr id="71" name=""/>
          <p:cNvSpPr txBox="1"/>
          <p:nvPr/>
        </p:nvSpPr>
        <p:spPr>
          <a:xfrm rot="0" flipH="0" flipV="0">
            <a:off x="762000" y="3276600"/>
            <a:ext cx="106680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sz="1200">
                <a:solidFill>
                  <a:srgbClr val="D73A49"/>
                </a:solidFill>
                <a:latin typeface="Menlo"/>
                <a:ea typeface="Menlo"/>
              </a:rPr>
              <a:t>def</a:t>
            </a:r>
            <a:r>
              <a:rPr sz="1200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1200">
                <a:solidFill>
                  <a:srgbClr val="6F42C1"/>
                </a:solidFill>
                <a:latin typeface="Menlo"/>
                <a:ea typeface="Menlo"/>
              </a:rPr>
              <a:t>build_scene_prompt</a:t>
            </a:r>
            <a:r>
              <a:rPr sz="1200">
                <a:solidFill>
                  <a:srgbClr val="24292E"/>
                </a:solidFill>
                <a:latin typeface="Menlo"/>
                <a:ea typeface="Menlo"/>
              </a:rPr>
              <a:t>(name, selling_point, scene):</a:t>
            </a:r>
            <a:endParaRPr/>
          </a:p>
          <a:p>
            <a:pPr>
              <a:lnSpc>
                <a:spcPct val="140000"/>
              </a:lnSpc>
            </a:pPr>
            <a:r>
              <a:rPr sz="1200">
                <a:solidFill>
                  <a:srgbClr val="24292E"/>
                </a:solidFill>
                <a:latin typeface="Menlo"/>
                <a:ea typeface="Menlo"/>
              </a:rPr>
              <a:t>    </a:t>
            </a:r>
            <a:r>
              <a:rPr sz="1200">
                <a:solidFill>
                  <a:srgbClr val="D73A49"/>
                </a:solidFill>
                <a:latin typeface="Menlo"/>
                <a:ea typeface="Menlo"/>
              </a:rPr>
              <a:t>return</a:t>
            </a:r>
            <a:r>
              <a:rPr sz="1200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1200">
                <a:solidFill>
                  <a:srgbClr val="D73A49"/>
                </a:solidFill>
                <a:latin typeface="Menlo"/>
                <a:ea typeface="Menlo"/>
              </a:rPr>
              <a:t>f</a:t>
            </a:r>
            <a:r>
              <a:rPr sz="1200">
                <a:solidFill>
                  <a:srgbClr val="032F62"/>
                </a:solidFill>
                <a:latin typeface="Menlo"/>
                <a:ea typeface="Menlo"/>
              </a:rPr>
              <a:t>"场景=</a:t>
            </a:r>
            <a:r>
              <a:rPr sz="1200">
                <a:solidFill>
                  <a:srgbClr val="005CC5"/>
                </a:solidFill>
                <a:latin typeface="Menlo"/>
                <a:ea typeface="Menlo"/>
              </a:rPr>
              <a:t>{</a:t>
            </a:r>
            <a:r>
              <a:rPr sz="1200">
                <a:solidFill>
                  <a:srgbClr val="24292E"/>
                </a:solidFill>
                <a:latin typeface="Menlo"/>
                <a:ea typeface="Menlo"/>
              </a:rPr>
              <a:t>scene</a:t>
            </a:r>
            <a:r>
              <a:rPr sz="1200">
                <a:solidFill>
                  <a:srgbClr val="005CC5"/>
                </a:solidFill>
                <a:latin typeface="Menlo"/>
                <a:ea typeface="Menlo"/>
              </a:rPr>
              <a:t>}</a:t>
            </a:r>
            <a:r>
              <a:rPr sz="1200">
                <a:solidFill>
                  <a:srgbClr val="032F62"/>
                </a:solidFill>
                <a:latin typeface="Menlo"/>
                <a:ea typeface="Menlo"/>
              </a:rPr>
              <a:t>；商品=</a:t>
            </a:r>
            <a:r>
              <a:rPr sz="1200">
                <a:solidFill>
                  <a:srgbClr val="005CC5"/>
                </a:solidFill>
                <a:latin typeface="Menlo"/>
                <a:ea typeface="Menlo"/>
              </a:rPr>
              <a:t>{</a:t>
            </a:r>
            <a:r>
              <a:rPr sz="1200">
                <a:solidFill>
                  <a:srgbClr val="24292E"/>
                </a:solidFill>
                <a:latin typeface="Menlo"/>
                <a:ea typeface="Menlo"/>
              </a:rPr>
              <a:t>name</a:t>
            </a:r>
            <a:r>
              <a:rPr sz="1200">
                <a:solidFill>
                  <a:srgbClr val="005CC5"/>
                </a:solidFill>
                <a:latin typeface="Menlo"/>
                <a:ea typeface="Menlo"/>
              </a:rPr>
              <a:t>}</a:t>
            </a:r>
            <a:r>
              <a:rPr sz="1200">
                <a:solidFill>
                  <a:srgbClr val="032F62"/>
                </a:solidFill>
                <a:latin typeface="Menlo"/>
                <a:ea typeface="Menlo"/>
              </a:rPr>
              <a:t>；卖点=</a:t>
            </a:r>
            <a:r>
              <a:rPr sz="1200">
                <a:solidFill>
                  <a:srgbClr val="005CC5"/>
                </a:solidFill>
                <a:latin typeface="Menlo"/>
                <a:ea typeface="Menlo"/>
              </a:rPr>
              <a:t>{</a:t>
            </a:r>
            <a:r>
              <a:rPr sz="1200">
                <a:solidFill>
                  <a:srgbClr val="24292E"/>
                </a:solidFill>
                <a:latin typeface="Menlo"/>
                <a:ea typeface="Menlo"/>
              </a:rPr>
              <a:t>selling_point</a:t>
            </a:r>
            <a:r>
              <a:rPr sz="1200">
                <a:solidFill>
                  <a:srgbClr val="005CC5"/>
                </a:solidFill>
                <a:latin typeface="Menlo"/>
                <a:ea typeface="Menlo"/>
              </a:rPr>
              <a:t>}</a:t>
            </a:r>
            <a:r>
              <a:rPr sz="1200">
                <a:solidFill>
                  <a:srgbClr val="032F62"/>
                </a:solidFill>
                <a:latin typeface="Menlo"/>
                <a:ea typeface="Menlo"/>
              </a:rPr>
              <a:t>"</a:t>
            </a:r>
            <a:endParaRPr/>
          </a:p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11353800" y="66198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E4FA8"/>
                </a:solidFill>
                <a:latin typeface="Microsoft YaHei"/>
                <a:ea typeface="Microsoft YaHei"/>
              </a:rPr>
              <a:t>07 / 09</a:t>
            </a:r>
            <a:endParaRPr/>
          </a:p>
        </p:txBody>
      </p:sp>
    </p:spTree>
  </p:cSld>
</p:sld>
</file>

<file path=ppt/slides/slide8.xml><?xml version="1.0" encoding="utf-8"?>
<p:sld xmlns:a="http://schemas.openxmlformats.org/drawingml/2006/main" xmlns:p="http://schemas.openxmlformats.org/presentationml/2006/main">
  <p:cSld>
    <p:spTree>
      <p:nvGrpSpPr>
        <p:cNvPr id="73" name="" descr="&lt;Slide style={{ width: '1280px', height: '720px', background: '#FFFFFF', padding: 0 }}&gt;&#10;  &lt;Box style={{ height: 56, background: '#0E3F8C', flexDirection: 'row', alignItems: 'center', paddingLeft: 40 }}&gt;&#10;    &lt;Text style={{ fontSize: 20, fontWeight: 'bold', color: '#FFFFFF' }}&gt;常见坑&lt;/Text&gt;&#10;  &lt;/Box&gt;&#10;  &lt;Box style={{ flex: 1, flexDirection: 'column', justifyContent: 'center', padding: '0 64px', gap: 14 }}&gt;&#10;    &lt;Text style={{ fontSize: 17, color: '#334155' }}&gt;① 漏写 &lt;b&gt;f&lt;/b&gt; 前缀 → 花括号被原样输出，变量不替换。&lt;/Text&gt;&#10;    &lt;Text style={{ fontSize: 17, color: '#334155' }}&gt;② 引号嵌套 → 外层用双引号，内层就用单引号（反之亦然）。&lt;/Text&gt;&#10;    &lt;Text style={{ fontSize: 17, color: '#334155' }}&gt;③ 中文标点 → 逗号 / 分号要用英文半角，全角会报语法错。&lt;/Text&gt;&#10;    &lt;Text style={{ fontSize: 17, color: '#334155' }}&gt;④ 变量名拼错 → &lt;code style={{ background:'#EEF2F7', padding:'1px 6px', borderRadius:4 }}&gt;selling_point&lt;/code&gt; 别写成 sellingpoint。&lt;/Text&gt;&#10;    &lt;Text style={{ fontSize: 15, color: '#64748B' }}&gt;出错时先看报错行号，对照上面四条逐一排查。&lt;/Text&gt;&#10;  &lt;/Box&gt;&#10;  &lt;Box style={{ position: 'absolute', bottom: 0, left: 0, right: 0, height: 34, flexDirection: 'row', alignItems: 'center', justifyContent: 'flex-end', paddingRight: 40 }}&gt;&#10;    &lt;Text style={{ fontSize: 14, color: '#1E4FA8' }}&gt;08 / 09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5" name=""/>
          <p:cNvSpPr/>
          <p:nvPr/>
        </p:nvSpPr>
        <p:spPr>
          <a:xfrm rot="0" flipH="0" flipV="0">
            <a:off x="0" y="0"/>
            <a:ext cx="12192000" cy="5334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381000" y="152400"/>
            <a:ext cx="571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常见坑</a:t>
            </a:r>
            <a:endParaRPr/>
          </a:p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609600" y="2943225"/>
            <a:ext cx="10972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334155"/>
                </a:solidFill>
                <a:latin typeface="Microsoft YaHei"/>
                <a:ea typeface="Microsoft YaHei"/>
              </a:rPr>
              <a:t>① </a:t>
            </a:r>
            <a:r>
              <a:rPr lang="zh-CN" sz="1275">
                <a:solidFill>
                  <a:srgbClr val="334155"/>
                </a:solidFill>
                <a:latin typeface="Microsoft YaHei"/>
                <a:ea typeface="Microsoft YaHei"/>
              </a:rPr>
              <a:t>漏写</a:t>
            </a:r>
            <a:r>
              <a:rPr lang="en-US" sz="1275">
                <a:solidFill>
                  <a:srgbClr val="334155"/>
                </a:solidFill>
                <a:latin typeface="Microsoft YaHei"/>
                <a:ea typeface="Microsoft YaHei"/>
              </a:rPr>
              <a:t> </a:t>
            </a:r>
            <a:r>
              <a:rPr lang="en-US" sz="1275">
                <a:solidFill>
                  <a:srgbClr val="334155"/>
                </a:solidFill>
                <a:latin typeface="Microsoft YaHei"/>
                <a:ea typeface="Microsoft YaHei"/>
              </a:rPr>
              <a:t>f</a:t>
            </a:r>
            <a:r>
              <a:rPr lang="en-US" sz="1275">
                <a:solidFill>
                  <a:srgbClr val="334155"/>
                </a:solidFill>
                <a:latin typeface="Microsoft YaHei"/>
                <a:ea typeface="Microsoft YaHei"/>
              </a:rPr>
              <a:t> </a:t>
            </a:r>
            <a:r>
              <a:rPr lang="zh-CN" sz="1275">
                <a:solidFill>
                  <a:srgbClr val="334155"/>
                </a:solidFill>
                <a:latin typeface="Microsoft YaHei"/>
                <a:ea typeface="Microsoft YaHei"/>
              </a:rPr>
              <a:t>前缀</a:t>
            </a:r>
            <a:r>
              <a:rPr lang="en-US" sz="1275">
                <a:solidFill>
                  <a:srgbClr val="334155"/>
                </a:solidFill>
                <a:latin typeface="Microsoft YaHei"/>
                <a:ea typeface="Microsoft YaHei"/>
              </a:rPr>
              <a:t> → </a:t>
            </a:r>
            <a:r>
              <a:rPr lang="zh-CN" sz="1275">
                <a:solidFill>
                  <a:srgbClr val="334155"/>
                </a:solidFill>
                <a:latin typeface="Microsoft YaHei"/>
                <a:ea typeface="Microsoft YaHei"/>
              </a:rPr>
              <a:t>花括号被原样输出，变量不替换。</a:t>
            </a:r>
            <a:endParaRPr/>
          </a:p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609600" y="3276600"/>
            <a:ext cx="10972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334155"/>
                </a:solidFill>
                <a:latin typeface="Microsoft YaHei"/>
                <a:ea typeface="Microsoft YaHei"/>
              </a:rPr>
              <a:t>② </a:t>
            </a:r>
            <a:r>
              <a:rPr lang="zh-CN" sz="1275">
                <a:solidFill>
                  <a:srgbClr val="334155"/>
                </a:solidFill>
                <a:latin typeface="Microsoft YaHei"/>
                <a:ea typeface="Microsoft YaHei"/>
              </a:rPr>
              <a:t>引号嵌套</a:t>
            </a:r>
            <a:r>
              <a:rPr lang="en-US" sz="1275">
                <a:solidFill>
                  <a:srgbClr val="334155"/>
                </a:solidFill>
                <a:latin typeface="Microsoft YaHei"/>
                <a:ea typeface="Microsoft YaHei"/>
              </a:rPr>
              <a:t> → </a:t>
            </a:r>
            <a:r>
              <a:rPr lang="zh-CN" sz="1275">
                <a:solidFill>
                  <a:srgbClr val="334155"/>
                </a:solidFill>
                <a:latin typeface="Microsoft YaHei"/>
                <a:ea typeface="Microsoft YaHei"/>
              </a:rPr>
              <a:t>外层用双引号，内层就用单引号（反之亦然）。</a:t>
            </a:r>
            <a:endParaRPr/>
          </a:p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609600" y="3609975"/>
            <a:ext cx="10972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334155"/>
                </a:solidFill>
                <a:latin typeface="Microsoft YaHei"/>
                <a:ea typeface="Microsoft YaHei"/>
              </a:rPr>
              <a:t>③ </a:t>
            </a:r>
            <a:r>
              <a:rPr lang="zh-CN" sz="1275">
                <a:solidFill>
                  <a:srgbClr val="334155"/>
                </a:solidFill>
                <a:latin typeface="Microsoft YaHei"/>
                <a:ea typeface="Microsoft YaHei"/>
              </a:rPr>
              <a:t>中文标点</a:t>
            </a:r>
            <a:r>
              <a:rPr lang="en-US" sz="1275">
                <a:solidFill>
                  <a:srgbClr val="334155"/>
                </a:solidFill>
                <a:latin typeface="Microsoft YaHei"/>
                <a:ea typeface="Microsoft YaHei"/>
              </a:rPr>
              <a:t> → </a:t>
            </a:r>
            <a:r>
              <a:rPr lang="zh-CN" sz="1275">
                <a:solidFill>
                  <a:srgbClr val="334155"/>
                </a:solidFill>
                <a:latin typeface="Microsoft YaHei"/>
                <a:ea typeface="Microsoft YaHei"/>
              </a:rPr>
              <a:t>逗号</a:t>
            </a:r>
            <a:r>
              <a:rPr lang="en-US" sz="1275">
                <a:solidFill>
                  <a:srgbClr val="334155"/>
                </a:solidFill>
                <a:latin typeface="Microsoft YaHei"/>
                <a:ea typeface="Microsoft YaHei"/>
              </a:rPr>
              <a:t> / </a:t>
            </a:r>
            <a:r>
              <a:rPr lang="zh-CN" sz="1275">
                <a:solidFill>
                  <a:srgbClr val="334155"/>
                </a:solidFill>
                <a:latin typeface="Microsoft YaHei"/>
                <a:ea typeface="Microsoft YaHei"/>
              </a:rPr>
              <a:t>分号要用英文半角，全角会报语法错。</a:t>
            </a:r>
            <a:endParaRPr/>
          </a:p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609600" y="3943350"/>
            <a:ext cx="10972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334155"/>
                </a:solidFill>
                <a:latin typeface="Microsoft YaHei"/>
                <a:ea typeface="Microsoft YaHei"/>
              </a:rPr>
              <a:t>④ </a:t>
            </a:r>
            <a:r>
              <a:rPr lang="zh-CN" sz="1275">
                <a:solidFill>
                  <a:srgbClr val="334155"/>
                </a:solidFill>
                <a:latin typeface="Microsoft YaHei"/>
                <a:ea typeface="Microsoft YaHei"/>
              </a:rPr>
              <a:t>变量名拼错</a:t>
            </a:r>
            <a:r>
              <a:rPr lang="en-US" sz="1275">
                <a:solidFill>
                  <a:srgbClr val="334155"/>
                </a:solidFill>
                <a:latin typeface="Microsoft YaHei"/>
                <a:ea typeface="Microsoft YaHei"/>
              </a:rPr>
              <a:t> → </a:t>
            </a:r>
            <a:r>
              <a:rPr lang="en-US" sz="1275">
                <a:solidFill>
                  <a:srgbClr val="334155"/>
                </a:solidFill>
                <a:latin typeface="Microsoft YaHei"/>
                <a:ea typeface="Microsoft YaHei"/>
              </a:rPr>
              <a:t>selling_point</a:t>
            </a:r>
            <a:r>
              <a:rPr lang="en-US" sz="1275">
                <a:solidFill>
                  <a:srgbClr val="334155"/>
                </a:solidFill>
                <a:latin typeface="Microsoft YaHei"/>
                <a:ea typeface="Microsoft YaHei"/>
              </a:rPr>
              <a:t> </a:t>
            </a:r>
            <a:r>
              <a:rPr lang="zh-CN" sz="1275">
                <a:solidFill>
                  <a:srgbClr val="334155"/>
                </a:solidFill>
                <a:latin typeface="Microsoft YaHei"/>
                <a:ea typeface="Microsoft YaHei"/>
              </a:rPr>
              <a:t>别写成</a:t>
            </a:r>
            <a:r>
              <a:rPr lang="en-US" sz="1275">
                <a:solidFill>
                  <a:srgbClr val="334155"/>
                </a:solidFill>
                <a:latin typeface="Microsoft YaHei"/>
                <a:ea typeface="Microsoft YaHei"/>
              </a:rPr>
              <a:t> sellingpoint</a:t>
            </a:r>
            <a:r>
              <a:rPr lang="zh-CN" sz="1275">
                <a:solidFill>
                  <a:srgbClr val="334155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609600" y="4276725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出错时先看报错行号，对照上面四条逐一排查。</a:t>
            </a:r>
            <a:endParaRPr/>
          </a:p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11353800" y="66198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E4FA8"/>
                </a:solidFill>
                <a:latin typeface="Microsoft YaHei"/>
                <a:ea typeface="Microsoft YaHei"/>
              </a:rPr>
              <a:t>08 / 09</a:t>
            </a:r>
            <a:endParaRPr/>
          </a:p>
        </p:txBody>
      </p:sp>
    </p:spTree>
  </p:cSld>
</p:sld>
</file>

<file path=ppt/slides/slide9.xml><?xml version="1.0" encoding="utf-8"?>
<p:sld xmlns:a="http://schemas.openxmlformats.org/drawingml/2006/main" xmlns:p="http://schemas.openxmlformats.org/presentationml/2006/main">
  <p:cSld>
    <p:spTree>
      <p:nvGrpSpPr>
        <p:cNvPr id="83" name="" descr="&lt;Slide style={{ width: '1280px', height: '720px', background: '#FFFFFF', padding: 0 }}&gt;&#10;  &lt;Box style={{ height: 56, background: '#0E3F8C', flexDirection: 'row', alignItems: 'center', paddingLeft: 40 }}&gt;&#10;    &lt;Text style={{ fontSize: 20, fontWeight: 'bold', color: '#FFFFFF' }}&gt;完成自检清单&lt;/Text&gt;&#10;  &lt;/Box&gt;&#10;  &lt;Box style={{ flex: 1, flexDirection: 'column', justifyContent: 'center', padding: '0 64px', gap: 16 }}&gt;&#10;    &lt;Text style={{ fontSize: 18, color: '#334155' }}&gt;☐ 任务一能运行，输出含 场景 / 商品 / 卖点 三要素&lt;/Text&gt;&#10;    &lt;Text style={{ fontSize: 18, color: '#334155' }}&gt;☐ 任务二输出 3 条提示词，场景各不相同&lt;/Text&gt;&#10;    &lt;Text style={{ fontSize: 18, color: '#334155' }}&gt;☐ 没有把 f-string 写成普通字符串（花括号被替换）&lt;/Text&gt;&#10;    &lt;Text style={{ fontSize: 18, color: '#334155' }}&gt;☐ （选做）任务三函数与母体函数输出一致&lt;/Text&gt;&#10;    &lt;Text style={{ fontSize: 15, color: '#64748B' }}&gt;全部打勾 = 本章切片完成。下一步（第7章）会把这些提示词存进文件、读商品表。&lt;/Text&gt;&#10;  &lt;/Box&gt;&#10;  &lt;Box style={{ position: 'absolute', bottom: 0, left: 0, right: 0, height: 34, flexDirection: 'row', alignItems: 'center', justifyContent: 'flex-end', paddingRight: 40 }}&gt;&#10;    &lt;Text style={{ fontSize: 14, color: '#1E4FA8' }}&gt;09 / 09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5" name=""/>
          <p:cNvSpPr/>
          <p:nvPr/>
        </p:nvSpPr>
        <p:spPr>
          <a:xfrm rot="0" flipH="0" flipV="0">
            <a:off x="0" y="0"/>
            <a:ext cx="12192000" cy="5334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381000" y="152400"/>
            <a:ext cx="1143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完成自检清单</a:t>
            </a:r>
            <a:endParaRPr/>
          </a:p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609600" y="2886075"/>
            <a:ext cx="10972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334155"/>
                </a:solidFill>
                <a:latin typeface="Microsoft YaHei"/>
                <a:ea typeface="Microsoft YaHei"/>
              </a:rPr>
              <a:t>☐ </a:t>
            </a:r>
            <a:r>
              <a:rPr lang="zh-CN" sz="1350">
                <a:solidFill>
                  <a:srgbClr val="334155"/>
                </a:solidFill>
                <a:latin typeface="Microsoft YaHei"/>
                <a:ea typeface="Microsoft YaHei"/>
              </a:rPr>
              <a:t>任务一能运行，输出含</a:t>
            </a:r>
            <a:r>
              <a:rPr lang="en-US" sz="1350">
                <a:solidFill>
                  <a:srgbClr val="334155"/>
                </a:solidFill>
                <a:latin typeface="Microsoft YaHei"/>
                <a:ea typeface="Microsoft YaHei"/>
              </a:rPr>
              <a:t> </a:t>
            </a:r>
            <a:r>
              <a:rPr lang="zh-CN" sz="1350">
                <a:solidFill>
                  <a:srgbClr val="334155"/>
                </a:solidFill>
                <a:latin typeface="Microsoft YaHei"/>
                <a:ea typeface="Microsoft YaHei"/>
              </a:rPr>
              <a:t>场景</a:t>
            </a:r>
            <a:r>
              <a:rPr lang="en-US" sz="1350">
                <a:solidFill>
                  <a:srgbClr val="334155"/>
                </a:solidFill>
                <a:latin typeface="Microsoft YaHei"/>
                <a:ea typeface="Microsoft YaHei"/>
              </a:rPr>
              <a:t> / </a:t>
            </a:r>
            <a:r>
              <a:rPr lang="zh-CN" sz="1350">
                <a:solidFill>
                  <a:srgbClr val="334155"/>
                </a:solidFill>
                <a:latin typeface="Microsoft YaHei"/>
                <a:ea typeface="Microsoft YaHei"/>
              </a:rPr>
              <a:t>商品</a:t>
            </a:r>
            <a:r>
              <a:rPr lang="en-US" sz="1350">
                <a:solidFill>
                  <a:srgbClr val="334155"/>
                </a:solidFill>
                <a:latin typeface="Microsoft YaHei"/>
                <a:ea typeface="Microsoft YaHei"/>
              </a:rPr>
              <a:t> / </a:t>
            </a:r>
            <a:r>
              <a:rPr lang="zh-CN" sz="1350">
                <a:solidFill>
                  <a:srgbClr val="334155"/>
                </a:solidFill>
                <a:latin typeface="Microsoft YaHei"/>
                <a:ea typeface="Microsoft YaHei"/>
              </a:rPr>
              <a:t>卖点</a:t>
            </a:r>
            <a:r>
              <a:rPr lang="en-US" sz="1350">
                <a:solidFill>
                  <a:srgbClr val="334155"/>
                </a:solidFill>
                <a:latin typeface="Microsoft YaHei"/>
                <a:ea typeface="Microsoft YaHei"/>
              </a:rPr>
              <a:t> </a:t>
            </a:r>
            <a:r>
              <a:rPr lang="zh-CN" sz="1350">
                <a:solidFill>
                  <a:srgbClr val="334155"/>
                </a:solidFill>
                <a:latin typeface="Microsoft YaHei"/>
                <a:ea typeface="Microsoft YaHei"/>
              </a:rPr>
              <a:t>三要素</a:t>
            </a:r>
            <a:endParaRPr/>
          </a:p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609600" y="3248025"/>
            <a:ext cx="10972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334155"/>
                </a:solidFill>
                <a:latin typeface="Microsoft YaHei"/>
                <a:ea typeface="Microsoft YaHei"/>
              </a:rPr>
              <a:t>☐ </a:t>
            </a:r>
            <a:r>
              <a:rPr lang="zh-CN" sz="1350">
                <a:solidFill>
                  <a:srgbClr val="334155"/>
                </a:solidFill>
                <a:latin typeface="Microsoft YaHei"/>
                <a:ea typeface="Microsoft YaHei"/>
              </a:rPr>
              <a:t>任务二输出</a:t>
            </a:r>
            <a:r>
              <a:rPr lang="en-US" sz="1350">
                <a:solidFill>
                  <a:srgbClr val="334155"/>
                </a:solidFill>
                <a:latin typeface="Microsoft YaHei"/>
                <a:ea typeface="Microsoft YaHei"/>
              </a:rPr>
              <a:t> 3 </a:t>
            </a:r>
            <a:r>
              <a:rPr lang="zh-CN" sz="1350">
                <a:solidFill>
                  <a:srgbClr val="334155"/>
                </a:solidFill>
                <a:latin typeface="Microsoft YaHei"/>
                <a:ea typeface="Microsoft YaHei"/>
              </a:rPr>
              <a:t>条提示词，场景各不相同</a:t>
            </a:r>
            <a:endParaRPr/>
          </a:p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609600" y="3609975"/>
            <a:ext cx="10972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334155"/>
                </a:solidFill>
                <a:latin typeface="Microsoft YaHei"/>
                <a:ea typeface="Microsoft YaHei"/>
              </a:rPr>
              <a:t>☐ </a:t>
            </a:r>
            <a:r>
              <a:rPr lang="zh-CN" sz="1350">
                <a:solidFill>
                  <a:srgbClr val="334155"/>
                </a:solidFill>
                <a:latin typeface="Microsoft YaHei"/>
                <a:ea typeface="Microsoft YaHei"/>
              </a:rPr>
              <a:t>没有把</a:t>
            </a:r>
            <a:r>
              <a:rPr lang="en-US" sz="1350">
                <a:solidFill>
                  <a:srgbClr val="334155"/>
                </a:solidFill>
                <a:latin typeface="Microsoft YaHei"/>
                <a:ea typeface="Microsoft YaHei"/>
              </a:rPr>
              <a:t> f-string </a:t>
            </a:r>
            <a:r>
              <a:rPr lang="zh-CN" sz="1350">
                <a:solidFill>
                  <a:srgbClr val="334155"/>
                </a:solidFill>
                <a:latin typeface="Microsoft YaHei"/>
                <a:ea typeface="Microsoft YaHei"/>
              </a:rPr>
              <a:t>写成普通字符串（花括号被替换）</a:t>
            </a:r>
            <a:endParaRPr/>
          </a:p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609600" y="3971925"/>
            <a:ext cx="10972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334155"/>
                </a:solidFill>
                <a:latin typeface="Microsoft YaHei"/>
                <a:ea typeface="Microsoft YaHei"/>
              </a:rPr>
              <a:t>☐ </a:t>
            </a:r>
            <a:r>
              <a:rPr lang="zh-CN" sz="1350">
                <a:solidFill>
                  <a:srgbClr val="334155"/>
                </a:solidFill>
                <a:latin typeface="Microsoft YaHei"/>
                <a:ea typeface="Microsoft YaHei"/>
              </a:rPr>
              <a:t>（选做）任务三函数与母体函数输出一致</a:t>
            </a:r>
            <a:endParaRPr/>
          </a:p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609600" y="4333875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全部打勾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 =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本章切片完成。下一步（第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7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章）会把这些提示词存进文件、读商品表。</a:t>
            </a:r>
            <a:endParaRPr/>
          </a:p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11353800" y="66198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E4FA8"/>
                </a:solidFill>
                <a:latin typeface="Microsoft YaHei"/>
                <a:ea typeface="Microsoft YaHei"/>
              </a:rPr>
              <a:t>09 / 09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dc="http://purl.org/dc/elements/1.1/" xmlns:cp="http://schemas.openxmlformats.org/package/2006/metadata/core-properties">
  <dcterms:created xsi:type="dcterms:W3CDTF">2026-10-08T07:36:50Z</dcterms:created>
  <dcterms:modified xsi:type="dcterms:W3CDTF">2026-10-08T07:36:50Z</dcterms:modified>
</cp:coreProperties>
</file>